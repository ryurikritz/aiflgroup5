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6-Month Build ($K)</c:v>
                </c:pt>
              </c:strCache>
            </c:strRef>
          </c:tx>
          <c:spPr>
            <a:solidFill>
              <a:srgbClr val="D6A0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Snowflake Cortex</c:v>
                </c:pt>
                <c:pt idx="1">
                  <c:v>Azure GPT-4o</c:v>
                </c:pt>
                <c:pt idx="2">
                  <c:v>Claude 3.5</c:v>
                </c:pt>
                <c:pt idx="3">
                  <c:v>Infra/DevOps</c:v>
                </c:pt>
                <c:pt idx="4">
                  <c:v>People (8 roles)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15</c:v>
                </c:pt>
                <c:pt idx="2">
                  <c:v>8</c:v>
                </c:pt>
                <c:pt idx="3">
                  <c:v>11</c:v>
                </c:pt>
                <c:pt idx="4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2A-49FF-B1B1-54E8C78C8F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Ops ($K)</c:v>
                </c:pt>
              </c:strCache>
            </c:strRef>
          </c:tx>
          <c:spPr>
            <a:solidFill>
              <a:srgbClr val="00AA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Snowflake Cortex</c:v>
                </c:pt>
                <c:pt idx="1">
                  <c:v>Azure GPT-4o</c:v>
                </c:pt>
                <c:pt idx="2">
                  <c:v>Claude 3.5</c:v>
                </c:pt>
                <c:pt idx="3">
                  <c:v>Infra/DevOps</c:v>
                </c:pt>
                <c:pt idx="4">
                  <c:v>People (8 roles)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2A-49FF-B1B1-54E8C78C8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00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jp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6.jp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microsoft.com/office/2007/relationships/media" Target="../media/media4.mp4"/><Relationship Id="rId7" Type="http://schemas.openxmlformats.org/officeDocument/2006/relationships/image" Target="../media/image18.jp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4.mp4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microsoft.com/office/2007/relationships/media" Target="../media/media6.mp4"/><Relationship Id="rId7" Type="http://schemas.openxmlformats.org/officeDocument/2006/relationships/image" Target="../media/image20.jp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6.mp4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5.png"/><Relationship Id="rId10" Type="http://schemas.openxmlformats.org/officeDocument/2006/relationships/image" Target="../media/image31.png"/><Relationship Id="rId4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>
              <a:alpha val="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60720" y="777240"/>
            <a:ext cx="868680" cy="86868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0" y="75895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7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37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NINJA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Ninja Command Center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Sentinel for Autonomous IT Operations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67912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7912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9944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Claude 3.5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51976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1976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Final  ·  MVP Presentation  ·  Version 1.0  ·  Group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29,651 real IT support tickets  ·  No synthetic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Vision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Agents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Workflow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3484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0352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3484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0352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Code Explainers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43484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0352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Core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3484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0352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— The 10% Gateway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43484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0352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User Wow Moment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22960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9828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Admin as Supervisor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22960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09828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vs. Humans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22960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6676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09828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ROI &amp; Break-Even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22960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909828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Industry Expansion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22960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676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909828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Competition &amp; Ask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COMPANY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NinjaOps</a:t>
            </a: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AI — Vision, Mission &amp;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world’s most trusted Agentic AI Operations platform — turning every IT service desk from a reactive cost centre into an autonomous, self-healing intelligence engine.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22392" cy="1828800"/>
          </a:xfrm>
          <a:prstGeom prst="roundRect">
            <a:avLst>
              <a:gd name="adj" fmla="val 35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90%+ of enterprise IT incidents autonomously — 24/7, with full audit trail and human override.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immovable principles: Human Authority First · No Hallucination · Compounding Intelligence.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4" name="Image 0" descr="/tmp/assets/ic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3192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Goals (0–12 mo)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4178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MVP on 29,651 real tickets at 90%+ autonomous resolution · Break-even Month 8–9 · 127% Year-1 ROI · first enterprise pilot.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3611880"/>
            <a:ext cx="54223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1908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9" name="Image 1" descr="/tmp/assets/ic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3192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37947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Goals (Years 2–5)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132320" y="4178808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95–97% autonomy · expand to FinOps, SecOps, HR &amp; Procurement · $1.46M 5-yr saving · Snowflake Native App.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focus: Enterprise IT Service Management for 80,000–140,000-user (post-acquisition) environments.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Fragmented IT Estate Bleeding $750K / Year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corporate acquisition (~140,000 combined users), the CTO inherited siloed tools — ServiceNow, Datadog, Dynatrace and proprietary CMDBs — with three compounding pain points: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40280"/>
            <a:ext cx="3602736" cy="109728"/>
          </a:xfrm>
          <a:prstGeom prst="rect">
            <a:avLst/>
          </a:prstGeom>
          <a:solidFill>
            <a:srgbClr val="F0C24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0" name="Image 0" descr="/tmp/assets/ic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overlapping tools — engineers ignore ~40% of alerts.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$380K/yr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waste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52544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2544" y="2240280"/>
            <a:ext cx="3602736" cy="109728"/>
          </a:xfrm>
          <a:prstGeom prst="rect">
            <a:avLst/>
          </a:prstGeom>
          <a:solidFill>
            <a:srgbClr val="DC4444"/>
          </a:solidFill>
          <a:ln/>
        </p:spPr>
      </p:sp>
      <p:sp>
        <p:nvSpPr>
          <p:cNvPr id="17" name="Shape 14"/>
          <p:cNvSpPr/>
          <p:nvPr/>
        </p:nvSpPr>
        <p:spPr>
          <a:xfrm>
            <a:off x="4581144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8" name="Image 1" descr="/tmp/assets/ic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6517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58384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Tier-1 Triage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26864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 avg MTTR; 18% SLA breach on L1/L2.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26864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$210K/yr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626864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penalties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56448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56448" y="2240280"/>
            <a:ext cx="3602736" cy="109728"/>
          </a:xfrm>
          <a:prstGeom prst="rect">
            <a:avLst/>
          </a:prstGeom>
          <a:solidFill>
            <a:srgbClr val="00AAD2"/>
          </a:solidFill>
          <a:ln/>
        </p:spPr>
      </p:sp>
      <p:sp>
        <p:nvSpPr>
          <p:cNvPr id="25" name="Shape 21"/>
          <p:cNvSpPr/>
          <p:nvPr/>
        </p:nvSpPr>
        <p:spPr>
          <a:xfrm>
            <a:off x="8385048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6" name="Image 2" descr="/tmp/assets/ic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65176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62288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Knowledge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430768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— 34% incident recurrence.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430768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$160K/yr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8430768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cost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1628"/>
          </a:solidFill>
          <a:ln/>
        </p:spPr>
      </p:sp>
      <p:sp>
        <p:nvSpPr>
          <p:cNvPr id="32" name="Text 27"/>
          <p:cNvSpPr/>
          <p:nvPr/>
        </p:nvSpPr>
        <p:spPr>
          <a:xfrm>
            <a:off x="548640" y="4846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quantified cost of inaction:  </a:t>
            </a:r>
            <a:r>
              <a:rPr lang="en-US" sz="18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~$750K every year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agents. One platform. Zero manual triage.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92808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</p:sp>
      <p:pic>
        <p:nvPicPr>
          <p:cNvPr id="10" name="Image 0" descr="/tmp/assets/ic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IT incident resolution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AI + Snowflake Cortex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96712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6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2402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52544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35424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HITL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35424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routing paths: autonomous · approval · escalation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56448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500616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</p:sp>
      <p:pic>
        <p:nvPicPr>
          <p:cNvPr id="22" name="Image 2" descr="/tmp/assets/ic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16" y="22402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56448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339328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auto-resolution; MTTR −74%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39328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with engineer oversight, 24/7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 →  Detect  →  Recover  →  Prevent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548640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685800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Endpoints, Network &amp; Cloud signals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346704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31" name="Text 26"/>
          <p:cNvSpPr/>
          <p:nvPr/>
        </p:nvSpPr>
        <p:spPr>
          <a:xfrm>
            <a:off x="3438144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3483864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 + RAG anomaly detection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44768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34" name="Text 29"/>
          <p:cNvSpPr/>
          <p:nvPr/>
        </p:nvSpPr>
        <p:spPr>
          <a:xfrm>
            <a:off x="6236208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6281928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remediation via live tool APIs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942832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</p:sp>
      <p:sp>
        <p:nvSpPr>
          <p:cNvPr id="37" name="Text 32"/>
          <p:cNvSpPr/>
          <p:nvPr/>
        </p:nvSpPr>
        <p:spPr>
          <a:xfrm>
            <a:off x="9034272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3"/>
          <p:cNvSpPr/>
          <p:nvPr/>
        </p:nvSpPr>
        <p:spPr>
          <a:xfrm>
            <a:off x="9079992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Fine-Tune prevents recurrence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ARCHITECTURE ·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Specialist Agents Under One Supervisor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463040"/>
            <a:ext cx="1115568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HOW IT ALL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Holistic End-to-End Solution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1115568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DECISION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Confidence-Gated Routing — Three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LIVE ROUTING EXPERIMENT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3 Real Tickets from the CSV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· HIGH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 + 3×0.03 + 5×0.01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6459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0.99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8229600" y="17830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21240" y="17373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Alan resolves — zero human touch · MTTR &lt;10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Exchanges · MEDIUM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+ 0×0.03 + 3×0.01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31546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0.73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8229600" y="32918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pauses · engineer approves in ~45s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Payments · 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661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 + 0×0.03 + 5×0.01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4663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0.60</a:t>
            </a:r>
            <a:endParaRPr lang="en-US" sz="3400" dirty="0"/>
          </a:p>
        </p:txBody>
      </p:sp>
      <p:sp>
        <p:nvSpPr>
          <p:cNvPr id="31" name="Shape 29"/>
          <p:cNvSpPr/>
          <p:nvPr/>
        </p:nvSpPr>
        <p:spPr>
          <a:xfrm>
            <a:off x="8229600" y="48006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800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21240" y="47548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→ training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formula derived from CSV columns only; production replaces it with a Cortex ML classifier at 97.1% F1.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DATASET ·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29,651 Real Tickets → 11 Engineered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prio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394960" cy="3108960"/>
          </a:xfrm>
          <a:prstGeom prst="rect">
            <a:avLst/>
          </a:prstGeom>
        </p:spPr>
      </p:pic>
      <p:pic>
        <p:nvPicPr>
          <p:cNvPr id="7" name="Image 1" descr="/tmp/assets/fig_d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08760"/>
            <a:ext cx="548640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 11,512 · medium 12,126 · low 6,013  |  Top dept: Technical Support (8,617).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0A1628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074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ENGINEERED FEATURES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body_length · word_count · sentence_count · avg_word_length · has_question · urgency_keywords · politeness_score · priority_numeric · tags_list · tag_count · has_outage_tag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Pipeline + Snowflake Knowledge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023360" cy="44805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LangGraph pipeline</a:t>
            </a:r>
            <a:endParaRPr lang="en-US" sz="1200" dirty="0"/>
          </a:p>
        </p:txBody>
      </p:sp>
      <p:pic>
        <p:nvPicPr>
          <p:cNvPr id="8" name="Image 0" descr="/tmp/assets/fig_lang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3108960" cy="3931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Knowledge DWH — Schema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82880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83480" y="1828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incidents_raw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18288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JSON ingest (append-only)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542032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25420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incidents_enriched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25420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table — category, priority, CI, resolution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255264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32552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knowledge_articles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0" y="32552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 vector index over 14,000+ KB articles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3968496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39684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resolution_vectors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39684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1024-dim embeddings for similarity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4681728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46817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ml_training_buffer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0" y="46817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Arctic retraining via FINETUNE()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539496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5394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0" y="5394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score &amp; HITL decision — GDPR trail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ANIMATED EXPLAINER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LangGraph Wires the Whole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brain in 60 seconds — ingest, classify, route to an agent or to a human. Press play.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1783080"/>
            <a:ext cx="6793992" cy="4160520"/>
          </a:xfrm>
          <a:prstGeom prst="roundRect">
            <a:avLst>
              <a:gd name="adj" fmla="val 1538"/>
            </a:avLst>
          </a:prstGeom>
          <a:solidFill>
            <a:srgbClr val="13243D"/>
          </a:solidFill>
          <a:ln w="2540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99339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0AAD2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60-SEC EXPLAINER</a:t>
            </a:r>
            <a:endParaRPr lang="en-US" sz="11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27248" y="2578608"/>
            <a:ext cx="594360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2724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snowflake_ingest → neural_net_predict → copilot_router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agent_alan / ada / grace / human_supervisor → END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ANIMATED EXPLAINER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Ninja — End-to-End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arrives, Ninja scores its confidence and acts — autonomously, or pausing for human approval. Press play.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1783080"/>
            <a:ext cx="6793992" cy="4160520"/>
          </a:xfrm>
          <a:prstGeom prst="roundRect">
            <a:avLst>
              <a:gd name="adj" fmla="val 1538"/>
            </a:avLst>
          </a:prstGeom>
          <a:solidFill>
            <a:srgbClr val="13243D"/>
          </a:solidFill>
          <a:ln w="2540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99339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60-SEC EXPLAINER</a:t>
            </a:r>
            <a:endParaRPr lang="en-US" sz="11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27248" y="2578608"/>
            <a:ext cx="594360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2724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0.90 → autonomous resolution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0.70–0.89 → HITL approval  ·  &lt; 0.70 → escalate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INTERACTIVE WORKSPACE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Command-Centre Workspace (HTML)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76352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7" name="Image 0" descr="/tmp/assets/html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27632"/>
            <a:ext cx="7315200" cy="50863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675970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— capstone_project_ninja.html (offline, self-contained)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366760" y="1481328"/>
            <a:ext cx="3319272" cy="868680"/>
          </a:xfrm>
          <a:prstGeom prst="roundRect">
            <a:avLst>
              <a:gd name="adj" fmla="val 6316"/>
            </a:avLst>
          </a:prstGeom>
          <a:solidFill>
            <a:srgbClr val="0A1628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WORKSPACE</a:t>
            </a:r>
            <a:endParaRPr lang="en-US" sz="1000" dirty="0"/>
          </a:p>
        </p:txBody>
      </p:sp>
      <p:sp>
        <p:nvSpPr>
          <p:cNvPr id="11" name="Text 8">
            <a:hlinkClick r:id=""/>
          </p:cNvPr>
          <p:cNvSpPr/>
          <p:nvPr/>
        </p:nvSpPr>
        <p:spPr>
          <a:xfrm>
            <a:off x="8503920" y="1847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github.com/ryurikritz/AIFLGroup5/</a:t>
            </a:r>
            <a:endParaRPr lang="en-US" sz="850" dirty="0"/>
          </a:p>
          <a:p>
            <a:pPr marL="0" indent="0">
              <a:buNone/>
            </a:pPr>
            <a:r>
              <a:rPr lang="en-US" sz="850" u="sng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blob/main/capstone_project_ninja.html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366760" y="2514600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00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25877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90.1% / 9.9%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503920" y="2971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/ HITL split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366760" y="3392424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00AA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0" y="34655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503920" y="38496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events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66760" y="4270248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0" y="43434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14.1 min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503920" y="4727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resolution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366760" y="5148072"/>
            <a:ext cx="3319272" cy="804672"/>
          </a:xfrm>
          <a:prstGeom prst="roundRect">
            <a:avLst>
              <a:gd name="adj" fmla="val 6818"/>
            </a:avLst>
          </a:prstGeom>
          <a:solidFill>
            <a:srgbClr val="13243D"/>
          </a:solidFill>
          <a:ln w="12700">
            <a:solidFill>
              <a:srgbClr val="3FAE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03920" y="52212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~65%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503920" y="56052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legacy systems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HUMAN-IN-THE-LOOP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— The 10% Gateway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Authority First — engineers retain override authority at every stage; agents act autonomously only where confidence is provably high (≥0.90).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20240"/>
            <a:ext cx="128016" cy="1234440"/>
          </a:xfrm>
          <a:prstGeom prst="rect">
            <a:avLst/>
          </a:prstGeom>
          <a:solidFill>
            <a:srgbClr val="3FAE5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Monitoring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0.90–0.99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acts; engineer notified post-hoc via Teams + Snowflake audit log. Reviews and flags misses.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46120"/>
            <a:ext cx="128016" cy="1234440"/>
          </a:xfrm>
          <a:prstGeom prst="rect">
            <a:avLst/>
          </a:prstGeom>
          <a:solidFill>
            <a:srgbClr val="D6A02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Gate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0.70–0.89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429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plan; LangGraph interrupt_before pauses. Engineer clicks Approve / Modify / Reject (~45s).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572000"/>
            <a:ext cx="128016" cy="1234440"/>
          </a:xfrm>
          <a:prstGeom prst="rect">
            <a:avLst/>
          </a:prstGeom>
          <a:solidFill>
            <a:srgbClr val="DC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Escalation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8680" y="5257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&lt; 0.70  or  P1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754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(log tail, similar incidents, hypothesis). Engineer resolves → new runbook.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approval, modification or rejection feeds the weekly FINETUNE() — well-trained supervisors directly raise the autonomous rate.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USER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Outage — Without vs. With Ninja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same 2 A.M. portal outage play out two ways — the manual struggle, then the autonomous “wow.”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011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NINJA</a:t>
            </a:r>
            <a:endParaRPr lang="en-US" sz="13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47-min hold · no ticket · manual escalation · “maybe by morning.”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0" y="20116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NINJA</a:t>
            </a:r>
            <a:endParaRPr lang="en-US" sz="130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&lt; 1s · conf 0.99 · auto-restored · zero human touch — “you’re all set.”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ADMIN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SSL Crisis — Without vs. With Agent Ada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expiring production certificate, two nights apart — the 3 A.M. scramble, then the calm HITL approval.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AGENT ADA</a:t>
            </a:r>
            <a:endParaRPr lang="en-US" sz="125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at 3 A.M. · cert expired · fragile script · no rollback · alone.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0" y="201168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AGENT ADA</a:t>
            </a:r>
            <a:endParaRPr lang="en-US" sz="125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48h early · plan + rollback · conf 0.88 · admin approves in ~45s — HITL.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IMPACT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vs. Human Engineers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535424"/>
        </p:xfrm>
        <a:graphic>
          <a:graphicData uri="http://schemas.openxmlformats.org/drawingml/2006/table">
            <a:tbl>
              <a:tblPr/>
              <a:tblGrid>
                <a:gridCol w="5605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0C24A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C8F0"/>
                          </a:solidFill>
                        </a:rPr>
                        <a:t>Human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Ninja v1.0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Delta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Avg. MTTR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4.2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1.1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Tickets resolved without human touch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~15%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90%+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+75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24/7 coverage (FTE)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12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3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SLA adherence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72%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93%+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+21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Alert-to-action latency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18–40 min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90 sec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−98%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Repeat incident rate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34%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8%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−76%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Engineer satisfaction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2.8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4.3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+54%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grounded in analogous enterprise AI-Ops deployments (Capgemini/Snowflake Cortex 2025; ServiceNow AI Agents 2024–25).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COST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6-Month Investment &amp; Annual Run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5544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0" y="16642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882128" y="22334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initial investment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29260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0" y="30358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~$41K/yr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882128" y="36050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run cost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42976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0" y="44074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882128" y="49766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 saving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drivers: $380K/yr alert waste · $210K/yr SLA penalties · $160K/yr rework · $712K/yr FTE reduction.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 &amp; 5-Year ROI Trajectory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31520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5087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138160" y="161848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8–9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47888" y="203682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break-even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26060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38160" y="271576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47888" y="313410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37033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138160" y="3813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247888" y="420624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(M1)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~$15–20K · no saving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2316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1460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prep (M2)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51460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~$35–50K · no saving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 (M3)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8912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~$55–80K · no saving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7220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6364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+ HITL (M4–5)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6364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only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4672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3816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(M6)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816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begin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9212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126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(M8–9)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0126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recovered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FUTURE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Expansion — 90% → 95–97%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</p:sp>
      <p:pic>
        <p:nvPicPr>
          <p:cNvPr id="9" name="Image 0" descr="/tmp/assets/ic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2199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LLM Routing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0020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→ GPT-4o → Claude 3.5, escalating only when needed.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0020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 ppt · 35% LLM cost cut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</p:sp>
      <p:pic>
        <p:nvPicPr>
          <p:cNvPr id="15" name="Image 1" descr="/tmp/assets/ic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2219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Collaborative Handoffs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22376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flags network degradation → Alan pre-emptively scales.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2376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ppt · −60% re-opens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724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21" name="Image 2" descr="/tmp/assets/ic_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05079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 Process-Deviation Detection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60020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deviation from optimal resolution paths.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60020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+0.5–1 ppt · closes loop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7220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3B82F6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3B82F6"/>
            </a:solidFill>
            <a:prstDash val="solid"/>
          </a:ln>
        </p:spPr>
      </p:sp>
      <p:pic>
        <p:nvPicPr>
          <p:cNvPr id="27" name="Image 3" descr="/tmp/assets/ic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05079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Constitutional-AI Agent Guardrails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22376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policy guardrails prevent scope creep.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22376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false escalations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D6A028"/>
          </a:solidFill>
          <a:ln/>
        </p:spPr>
      </p:sp>
      <p:sp>
        <p:nvSpPr>
          <p:cNvPr id="32" name="Text 26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target: 90% → 95–97% autonomous resolution by Q2 2026 · then expand to FinOps, SecOps, HR &amp; Procurement.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IT · SAME ENGINE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Cross-Domain &amp; Cross-Industry Expansion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 — Snowflake data brain + CoPilot reasoning + the three-agent LangGraph workflow — is domain-agnostic. The same “predict → decide → act” pattern re-skins onto any high-volume operational workflow.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848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code, agent framework and Snowflake schema were already built and paid for during the IT phase — each expansion needs near-zero raw software R&amp;D. Investment shifts to local data connectors and sector-specific compliance; the same three agents are simply re-skinned.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458968" cy="2743200"/>
          </a:xfrm>
          <a:prstGeom prst="roundRect">
            <a:avLst>
              <a:gd name="adj" fmla="val 2667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42900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</p:sp>
      <p:pic>
        <p:nvPicPr>
          <p:cNvPr id="13" name="Image 0" descr="/tmp/assets/ic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630168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737360" y="3447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DOMAIN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737360" y="3721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Operations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68680" y="4389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corporate-paperwork bottlenecks across 140,000 employees — onboarding, payroll, offboarding.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5349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0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HIGH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81344" y="3154680"/>
            <a:ext cx="5458968" cy="2743200"/>
          </a:xfrm>
          <a:prstGeom prst="roundRect">
            <a:avLst>
              <a:gd name="adj" fmla="val 2667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55664" y="342900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</p:sp>
      <p:pic>
        <p:nvPicPr>
          <p:cNvPr id="21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63016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70064" y="3447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INDUSTRY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370064" y="3721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Hospitals</a:t>
            </a:r>
            <a:endParaRPr lang="en-US" sz="2300" dirty="0"/>
          </a:p>
        </p:txBody>
      </p:sp>
      <p:sp>
        <p:nvSpPr>
          <p:cNvPr id="24" name="Text 20"/>
          <p:cNvSpPr/>
          <p:nvPr/>
        </p:nvSpPr>
        <p:spPr>
          <a:xfrm>
            <a:off x="6501384" y="4389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Re-skin the identical engine onto patient vitals, ER/ICU bed allocation and pharmacy supply.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501384" y="5349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0AAD2"/>
          </a:solidFill>
          <a:ln/>
        </p:spPr>
      </p:sp>
      <p:sp>
        <p:nvSpPr>
          <p:cNvPr id="26" name="Text 22"/>
          <p:cNvSpPr/>
          <p:nvPr/>
        </p:nvSpPr>
        <p:spPr>
          <a:xfrm>
            <a:off x="6501384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MEDIUM-LOW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· RE-SKINNED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Three Agents — New Missions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Operations (New Domain)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5486400" cy="1828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Agent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C8F0"/>
                          </a:solidFill>
                        </a:rPr>
                        <a:t>HR Role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Automates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Alan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Welcomer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Provisions email, laptops &amp; badges for new hires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Ada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Payroll Guard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Fixes tax &amp; salary errors before payday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Grace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Exit Manager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Offboarding paperwork &amp; safe access revocation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550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Hospitals (New Industry)</a:t>
            </a:r>
            <a:endParaRPr lang="en-US" sz="14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10512"/>
          <a:ext cx="5285232" cy="1828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7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Agent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8C8F0"/>
                          </a:solidFill>
                        </a:rPr>
                        <a:t>Clinical Role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Automates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Alan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Life Guard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Watches vitals; warns nurses pre-emergency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Ada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The Bed Allocator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Frees ER/ICU beds to cut wait times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Grace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Pharmacy Tracker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Tracks expiry; auto-orders drugs before stockout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Feasibility — Side-by-Side</a:t>
            </a:r>
            <a:endParaRPr lang="en-US" sz="1400" dirty="0"/>
          </a:p>
        </p:txBody>
      </p:sp>
      <p:graphicFrame>
        <p:nvGraphicFramePr>
          <p:cNvPr id="7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05072"/>
          <a:ext cx="11091672" cy="2304288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0C24A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HR Operations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Smart Hospitals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Data readiness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High — clean HR records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Mixed — legacy clinical systems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Core code reuse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~100% re-skin only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~100% re-skin only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Primary investment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Workday connectors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Epic / Cerner connectors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Compliance hurdle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GDPR (personal data)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HIPAA — stricter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Human-authority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90/10; managers handle exceptions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90/10 background; 100% clinical calls human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Overall feasibility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A4A5E"/>
                          </a:solidFill>
                        </a:rPr>
                        <a:t>MEDIUM-LOW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608076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3FAE5A"/>
          </a:solidFill>
          <a:ln/>
        </p:spPr>
      </p:sp>
      <p:sp>
        <p:nvSpPr>
          <p:cNvPr id="13" name="Text 8"/>
          <p:cNvSpPr/>
          <p:nvPr/>
        </p:nvSpPr>
        <p:spPr>
          <a:xfrm>
            <a:off x="548640" y="60807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entry: ~₹1,08,10,000 (~$130K) — ring-fenced for hospital pipelines, clinical-safety tuning &amp; HIPAA. Zero raw software R&amp;D.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MARKET &amp; COMPETITION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Fast-Growing, Defensible Whitespace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$10.2B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8368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→ $22.1B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16.8%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52544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62272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→ $11.0B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62272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21.7%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56448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66176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→ $18B+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~45%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 — no single player combines all four: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/ Jira / BMC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human-authored workflows; Ninja acts autonomously.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/ Moogsoft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alert; Ninja resolves the incident.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 / GitHub Copilot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human prompting; Ninja is an autonomous agent ensemble.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/ Terraform / Runbooks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scripts; Ninja decides what to execute.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Ninja’s moat: multi-LLM agentic reasoning + confidence-gated autonomy + production HITL + governed Snowflake core.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 NINJA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Reasons It Wins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5448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9" name="Image 0" descr="/tmp/assets/ic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21305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 F1 classifier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test split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4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1305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validated routing paths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· HITL · escalation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2376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19" name="Image 2" descr="/tmp/assets/ic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1305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zero-ETL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 risk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5840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24" name="Image 3" descr="/tmp/assets/ic_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2992" y="21305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ensemble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4400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&amp; cost-optimised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55448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29" name="Image 4" descr="/tmp/assets/ic_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072" y="405079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Art.22 compliant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4008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gateway built-in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38328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38912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34" name="Image 5" descr="/tmp/assets/ic_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4050792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47472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agents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347472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free-text hallucination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21792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22376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39" name="Image 6" descr="/tmp/assets/ic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352" y="4050792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30936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learning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630936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improves the model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905256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100584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</p:sp>
      <p:pic>
        <p:nvPicPr>
          <p:cNvPr id="44" name="Image 7" descr="/tmp/assets/ic_handshak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2992" y="4050792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14400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914400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 ready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914400"/>
            <a:ext cx="822960" cy="822960"/>
          </a:xfrm>
          <a:prstGeom prst="ellipse">
            <a:avLst/>
          </a:prstGeom>
          <a:solidFill>
            <a:srgbClr val="F0C24A"/>
          </a:solidFill>
          <a:ln/>
        </p:spPr>
      </p:sp>
      <p:sp>
        <p:nvSpPr>
          <p:cNvPr id="4" name="Text 2"/>
          <p:cNvSpPr/>
          <p:nvPr/>
        </p:nvSpPr>
        <p:spPr>
          <a:xfrm>
            <a:off x="5760720" y="896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14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14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— Your Intelligent Sentinel for Autonomous IT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Ramnath Kashikar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 / Lead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Sivanand Rao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Specialist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Engineer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Costa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Architect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78408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Ritam Shome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Cyber Security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Capstone Project Final  ·  All data grounded in publicly available, validated datasets — no hallucinated data.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2562</Words>
  <Application>Microsoft Office PowerPoint</Application>
  <PresentationFormat>Widescreen</PresentationFormat>
  <Paragraphs>490</Paragraphs>
  <Slides>26</Slides>
  <Notes>26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Ninja — Agentic AI Ninja Command Center</dc:title>
  <dc:subject>PptxGenJS Presentation</dc:subject>
  <dc:creator>Group 5 — NinjaOps AI</dc:creator>
  <cp:lastModifiedBy>lavanyaravindran@gmail.com</cp:lastModifiedBy>
  <cp:revision>2</cp:revision>
  <dcterms:created xsi:type="dcterms:W3CDTF">2026-06-04T13:43:11Z</dcterms:created>
  <dcterms:modified xsi:type="dcterms:W3CDTF">2026-06-06T11:18:17Z</dcterms:modified>
</cp:coreProperties>
</file>