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FF7-A04B-BA55-8AD9FE83143A}"/>
              </c:ext>
            </c:extLst>
          </c:dPt>
          <c:dPt>
            <c:idx val="1"/>
            <c:invertIfNegative val="0"/>
            <c:bubble3D val="0"/>
            <c:spPr>
              <a:solidFill>
                <a:srgbClr val="F4C5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F7-A04B-BA55-8AD9FE83143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FF7-A04B-BA55-8AD9FE83143A}"/>
              </c:ext>
            </c:extLst>
          </c:dPt>
          <c:dPt>
            <c:idx val="3"/>
            <c:invertIfNegative val="0"/>
            <c:bubble3D val="0"/>
            <c:spPr>
              <a:solidFill>
                <a:srgbClr val="F4C5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FF7-A04B-BA55-8AD9FE83143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FF7-A04B-BA55-8AD9FE83143A}"/>
              </c:ext>
            </c:extLst>
          </c:dPt>
          <c:dPt>
            <c:idx val="5"/>
            <c:invertIfNegative val="0"/>
            <c:bubble3D val="0"/>
            <c:spPr>
              <a:solidFill>
                <a:srgbClr val="F4C5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FF7-A04B-BA55-8AD9FE83143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ITSM 2024</c:v>
                </c:pt>
                <c:pt idx="1">
                  <c:v>ITSM 2029</c:v>
                </c:pt>
                <c:pt idx="2">
                  <c:v>AIOps 2024</c:v>
                </c:pt>
                <c:pt idx="3">
                  <c:v>AIOps 2029</c:v>
                </c:pt>
                <c:pt idx="4">
                  <c:v>Agentic AI 2024</c:v>
                </c:pt>
                <c:pt idx="5">
                  <c:v>Agentic AI 2029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10.199999999999999</c:v>
                </c:pt>
                <c:pt idx="1">
                  <c:v>22.1</c:v>
                </c:pt>
                <c:pt idx="2">
                  <c:v>4.0999999999999996</c:v>
                </c:pt>
                <c:pt idx="3">
                  <c:v>11</c:v>
                </c:pt>
                <c:pt idx="4">
                  <c:v>2.8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FF7-A04B-BA55-8AD9FE8314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918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($K)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95</c:v>
                </c:pt>
                <c:pt idx="2">
                  <c:v>90</c:v>
                </c:pt>
                <c:pt idx="3">
                  <c:v>88</c:v>
                </c:pt>
                <c:pt idx="4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EA-544C-9E16-D9BF090DCA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Saving ($K)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250</c:v>
                </c:pt>
                <c:pt idx="2">
                  <c:v>450</c:v>
                </c:pt>
                <c:pt idx="3">
                  <c:v>620</c:v>
                </c:pt>
                <c:pt idx="4">
                  <c:v>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EA-544C-9E16-D9BF090DCA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0918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94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0" y="182880"/>
            <a:ext cx="3200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2000" b="1" dirty="0">
                <a:solidFill>
                  <a:srgbClr val="0099BB">
                    <a:alpha val="18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</a:t>
            </a:r>
            <a:endParaRPr lang="en-US" sz="4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kern="0" spc="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NINJA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NINJA COMMAND CENTER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Operational Incident Prediction &amp; Intelligent Response Platform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92024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90%+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Auto-Resolution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2926080"/>
            <a:ext cx="192024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2971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06040" y="3456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192024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2971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-74%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54880" y="3456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2926080"/>
            <a:ext cx="192024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2971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127%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03720" y="3456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0" y="4681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AI  ·  LangGraph Orchestration  ·  GPT-4o + Claude 3.5  ·  Group 5 — Capstone Final  ·  Version 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VISION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 &amp; What We Stand For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solidFill>
            <a:srgbClr val="05101A"/>
          </a:solidFill>
          <a:ln w="1905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097280"/>
            <a:ext cx="64008" cy="91440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1155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1371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world's most trusted Agentic AI Operations platform — transforming every enterprise IT service desk from a reactive cost centre into an autonomous, self-healing intelligence engine.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2651760" cy="2560320"/>
          </a:xfrm>
          <a:prstGeom prst="rect">
            <a:avLst/>
          </a:prstGeom>
          <a:solidFill>
            <a:srgbClr val="0F1E2E"/>
          </a:solidFill>
          <a:ln w="1524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54864" cy="2560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31720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75488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Authority First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5488" y="320040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acts autonomously only where confidence ≥0.90. Engineers retain override authority at every stage via HITL gateway.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00400" y="2240280"/>
            <a:ext cx="2651760" cy="2560320"/>
          </a:xfrm>
          <a:prstGeom prst="rect">
            <a:avLst/>
          </a:prstGeom>
          <a:solidFill>
            <a:srgbClr val="0F1E2E"/>
          </a:solidFill>
          <a:ln w="15240">
            <a:solidFill>
              <a:srgbClr val="F4C542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200400" y="2240280"/>
            <a:ext cx="54864" cy="25603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33172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10128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Hallucination, No Shortcuts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3310128" y="320040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is RAG-grounded, tool-executed, and logged immutably. Free-text remediation not permitted.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035040" y="2240280"/>
            <a:ext cx="2651760" cy="2560320"/>
          </a:xfrm>
          <a:prstGeom prst="rect">
            <a:avLst/>
          </a:prstGeom>
          <a:solidFill>
            <a:srgbClr val="0F1E2E"/>
          </a:solidFill>
          <a:ln w="1524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035040" y="2240280"/>
            <a:ext cx="54864" cy="2560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33172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44768" y="2788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Intelligence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144768" y="3200400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resolution makes the system smarter. Weekly Cortex Fine-Tune means Ninja never stops learning.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NinjaOps AI Ltd  ·  HQ: Multi-cloud EU-West-1 / US-East-1  ·  Stage: MVP — 29,651-ticket validated dataset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E74C3C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Legacy IT Operations Are Breaking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2651760" cy="3017520"/>
          </a:xfrm>
          <a:prstGeom prst="rect">
            <a:avLst/>
          </a:prstGeom>
          <a:solidFill>
            <a:srgbClr val="0F1E2E"/>
          </a:solidFill>
          <a:ln w="15240">
            <a:solidFill>
              <a:srgbClr val="E74C3C"/>
            </a:solidFill>
            <a:prstDash val="solid"/>
          </a:ln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265176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80160"/>
            <a:ext cx="640080" cy="640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5760" y="2286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74C3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40%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45720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alerts ignored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291840"/>
            <a:ext cx="2468880" cy="640080"/>
          </a:xfrm>
          <a:prstGeom prst="rect">
            <a:avLst/>
          </a:prstGeom>
          <a:solidFill>
            <a:srgbClr val="05101A"/>
          </a:solidFill>
          <a:ln w="1016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31012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~$380K/yr engineering waste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00400" y="1143000"/>
            <a:ext cx="2651760" cy="3017520"/>
          </a:xfrm>
          <a:prstGeom prst="rect">
            <a:avLst/>
          </a:prstGeom>
          <a:solidFill>
            <a:srgbClr val="0F1E2E"/>
          </a:solidFill>
          <a:ln w="15240">
            <a:solidFill>
              <a:srgbClr val="F4C542"/>
            </a:solidFill>
            <a:prstDash val="solid"/>
          </a:ln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200400" y="1143000"/>
            <a:ext cx="2651760" cy="64008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280160"/>
            <a:ext cx="640080" cy="6400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0040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200400" y="2286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4C5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4.2h</a:t>
            </a:r>
            <a:endParaRPr lang="en-US" sz="4200" dirty="0"/>
          </a:p>
        </p:txBody>
      </p:sp>
      <p:sp>
        <p:nvSpPr>
          <p:cNvPr id="23" name="Text 19"/>
          <p:cNvSpPr/>
          <p:nvPr/>
        </p:nvSpPr>
        <p:spPr>
          <a:xfrm>
            <a:off x="329184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MTTR; 18% SLA breach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291840" y="3291840"/>
            <a:ext cx="2468880" cy="640080"/>
          </a:xfrm>
          <a:prstGeom prst="rect">
            <a:avLst/>
          </a:prstGeom>
          <a:solidFill>
            <a:srgbClr val="05101A"/>
          </a:solidFill>
          <a:ln w="1016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291840" y="331012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~$210K/yr SLA penalties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035040" y="1143000"/>
            <a:ext cx="2651760" cy="3017520"/>
          </a:xfrm>
          <a:prstGeom prst="rect">
            <a:avLst/>
          </a:prstGeom>
          <a:solidFill>
            <a:srgbClr val="0F1E2E"/>
          </a:solidFill>
          <a:ln w="15240">
            <a:solidFill>
              <a:srgbClr val="9B59B6"/>
            </a:solidFill>
            <a:prstDash val="solid"/>
          </a:ln>
          <a:effectLst>
            <a:outerShdw blurRad="1270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6035040" y="1143000"/>
            <a:ext cx="265176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280160"/>
            <a:ext cx="640080" cy="6400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03504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Knowledge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035040" y="2286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9B59B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34%</a:t>
            </a:r>
            <a:endParaRPr lang="en-US" sz="4200" dirty="0"/>
          </a:p>
        </p:txBody>
      </p:sp>
      <p:sp>
        <p:nvSpPr>
          <p:cNvPr id="31" name="Text 26"/>
          <p:cNvSpPr/>
          <p:nvPr/>
        </p:nvSpPr>
        <p:spPr>
          <a:xfrm>
            <a:off x="612648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recurrence rate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126480" y="3291840"/>
            <a:ext cx="2468880" cy="640080"/>
          </a:xfrm>
          <a:prstGeom prst="rect">
            <a:avLst/>
          </a:prstGeom>
          <a:solidFill>
            <a:srgbClr val="05101A"/>
          </a:solidFill>
          <a:ln w="1016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126480" y="331012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~$160K/yr rework cost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1A0505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457200" y="4315968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COST OF STATUS QUO:  ~$750,000/yr  |  4.2 hr MTTR  |  12 FTEs on 24/7 rotation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D4FF"/>
                </a:solidFill>
              </a:rPr>
              <a:t>THE AGENTS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Alan, Ada &amp; Grace — Your AI Dream Team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2743200" cy="3749040"/>
          </a:xfrm>
          <a:prstGeom prst="rect">
            <a:avLst/>
          </a:prstGeom>
          <a:solidFill>
            <a:srgbClr val="001520"/>
          </a:solidFill>
          <a:ln w="22860">
            <a:solidFill>
              <a:srgbClr val="00D4FF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1097280"/>
            <a:ext cx="2743200" cy="731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" y="11155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ALAN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28600" y="15819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Cloud Ops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43000" y="1920240"/>
            <a:ext cx="914400" cy="914400"/>
          </a:xfrm>
          <a:prstGeom prst="line">
            <a:avLst/>
          </a:prstGeom>
          <a:solidFill>
            <a:srgbClr val="00D4FF">
              <a:alpha val="15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3000" y="1965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2441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tickets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0040" y="2999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Memory spikes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3264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pod failures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35295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provisioning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794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anomalies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0599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auto-scaling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343400"/>
            <a:ext cx="2651760" cy="402336"/>
          </a:xfrm>
          <a:prstGeom prst="rect">
            <a:avLst/>
          </a:prstGeom>
          <a:solidFill>
            <a:srgbClr val="05101A"/>
          </a:solidFill>
          <a:ln w="762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3616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"Like Morgan Freeman — calm authority resolving your P1 at 3 AM"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54680" y="1097280"/>
            <a:ext cx="2743200" cy="3749040"/>
          </a:xfrm>
          <a:prstGeom prst="rect">
            <a:avLst/>
          </a:prstGeom>
          <a:solidFill>
            <a:srgbClr val="1A1000"/>
          </a:solidFill>
          <a:ln w="22860">
            <a:solidFill>
              <a:srgbClr val="F4C542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54680" y="1097280"/>
            <a:ext cx="2743200" cy="7315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54680" y="11155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ADA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3154680" y="15819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Software Support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69080" y="1920240"/>
            <a:ext cx="914400" cy="914400"/>
          </a:xfrm>
          <a:prstGeom prst="line">
            <a:avLst/>
          </a:prstGeom>
          <a:solidFill>
            <a:srgbClr val="F4C542">
              <a:alpha val="15000"/>
            </a:srgbClr>
          </a:solidFill>
          <a:ln w="1905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69080" y="1965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C5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41%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77640" y="2441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tickets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46120" y="2999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crashes &amp; errors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46120" y="3264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timeout diagnosis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35295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deployment issues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46120" y="3794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licence faults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46120" y="40599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 pools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4343400"/>
            <a:ext cx="2651760" cy="402336"/>
          </a:xfrm>
          <a:prstGeom prst="rect">
            <a:avLst/>
          </a:prstGeom>
          <a:solidFill>
            <a:srgbClr val="05101A"/>
          </a:solidFill>
          <a:ln w="762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46120" y="43616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"Warm, precise — she's debugged 10,000 errors before yours"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80760" y="1097280"/>
            <a:ext cx="2743200" cy="3749040"/>
          </a:xfrm>
          <a:prstGeom prst="rect">
            <a:avLst/>
          </a:prstGeom>
          <a:solidFill>
            <a:srgbClr val="001510"/>
          </a:solidFill>
          <a:ln w="22860">
            <a:solidFill>
              <a:srgbClr val="00C896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80760" y="1097280"/>
            <a:ext cx="2743200" cy="7315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80760" y="111556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GRACE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6080760" y="15819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VDI, Identity &amp; Workspace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95160" y="1920240"/>
            <a:ext cx="914400" cy="914400"/>
          </a:xfrm>
          <a:prstGeom prst="line">
            <a:avLst/>
          </a:prstGeom>
          <a:solidFill>
            <a:srgbClr val="00C896">
              <a:alpha val="15000"/>
            </a:srgbClr>
          </a:solidFill>
          <a:ln w="190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95160" y="1965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89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21%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903720" y="2441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tickets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172200" y="2999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 session failures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72200" y="3264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&amp; MFA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72200" y="35295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&amp; remote access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72200" y="3794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sync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72200" y="40599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provisioning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4343400"/>
            <a:ext cx="2651760" cy="402336"/>
          </a:xfrm>
          <a:prstGeom prst="rect">
            <a:avLst/>
          </a:prstGeom>
          <a:solidFill>
            <a:srgbClr val="05101A"/>
          </a:solidFill>
          <a:ln w="762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72200" y="43616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"Gentle, reassuring — your frustrated Friday 5pm saviour"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D4FF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Agentic AI Platform — How It All Connects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0972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8899AA"/>
                </a:solidFill>
              </a:rPr>
              <a:t>DATA SOURCES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7160" y="1389888"/>
            <a:ext cx="1417320" cy="457200"/>
          </a:xfrm>
          <a:prstGeom prst="rect">
            <a:avLst/>
          </a:prstGeom>
          <a:solidFill>
            <a:srgbClr val="1E2D3D"/>
          </a:solidFill>
          <a:ln w="1016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" y="13898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" y="1956816"/>
            <a:ext cx="1417320" cy="457200"/>
          </a:xfrm>
          <a:prstGeom prst="rect">
            <a:avLst/>
          </a:prstGeom>
          <a:solidFill>
            <a:srgbClr val="1E2D3D"/>
          </a:solidFill>
          <a:ln w="1016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" y="195681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" y="2523744"/>
            <a:ext cx="1417320" cy="457200"/>
          </a:xfrm>
          <a:prstGeom prst="rect">
            <a:avLst/>
          </a:prstGeom>
          <a:solidFill>
            <a:srgbClr val="1E2D3D"/>
          </a:solidFill>
          <a:ln w="1016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7160" y="25237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" y="3090672"/>
            <a:ext cx="1417320" cy="457200"/>
          </a:xfrm>
          <a:prstGeom prst="rect">
            <a:avLst/>
          </a:prstGeom>
          <a:solidFill>
            <a:srgbClr val="1E2D3D"/>
          </a:solidFill>
          <a:ln w="1016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" y="309067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72768" y="1993392"/>
            <a:ext cx="457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901952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011680" y="1097280"/>
            <a:ext cx="1645920" cy="2926080"/>
          </a:xfrm>
          <a:prstGeom prst="rect">
            <a:avLst/>
          </a:prstGeom>
          <a:solidFill>
            <a:srgbClr val="091828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1115568"/>
            <a:ext cx="1645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00D4FF"/>
                </a:solidFill>
              </a:rPr>
              <a:t>INGEST LAYER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057400" y="1417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Scrubber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57400" y="181051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57400" y="220370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incidents_raw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57400" y="2788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29,651 tickets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corpus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75888" y="1993392"/>
            <a:ext cx="365760" cy="54864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13632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C542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60520" y="1005840"/>
            <a:ext cx="2286000" cy="3200400"/>
          </a:xfrm>
          <a:prstGeom prst="rect">
            <a:avLst/>
          </a:prstGeom>
          <a:solidFill>
            <a:srgbClr val="090020"/>
          </a:solidFill>
          <a:ln w="25400">
            <a:solidFill>
              <a:srgbClr val="F4C542"/>
            </a:solidFill>
            <a:prstDash val="solid"/>
          </a:ln>
          <a:effectLst>
            <a:outerShdw blurRad="203200" dist="50800" dir="8100000" algn="bl" rotWithShape="0">
              <a:srgbClr val="000000">
                <a:alpha val="7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60520" y="1005840"/>
            <a:ext cx="2286000" cy="64008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60520" y="10332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4C542"/>
                </a:solidFill>
              </a:rPr>
              <a:t>⚡ LANGGRAPH BRAIN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51960" y="1444752"/>
            <a:ext cx="2103120" cy="329184"/>
          </a:xfrm>
          <a:prstGeom prst="rect">
            <a:avLst/>
          </a:prstGeom>
          <a:solidFill>
            <a:srgbClr val="14003A">
              <a:alpha val="80000"/>
            </a:srgbClr>
          </a:solidFill>
          <a:ln w="889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51960" y="144475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Ingest &amp; Enrich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51960" y="1865376"/>
            <a:ext cx="2103120" cy="329184"/>
          </a:xfrm>
          <a:prstGeom prst="rect">
            <a:avLst/>
          </a:prstGeom>
          <a:solidFill>
            <a:srgbClr val="14003A">
              <a:alpha val="80000"/>
            </a:srgbClr>
          </a:solidFill>
          <a:ln w="889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51960" y="18653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RAG Retrieval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2286000"/>
            <a:ext cx="2103120" cy="329184"/>
          </a:xfrm>
          <a:prstGeom prst="rect">
            <a:avLst/>
          </a:prstGeom>
          <a:solidFill>
            <a:srgbClr val="14003A">
              <a:alpha val="80000"/>
            </a:srgbClr>
          </a:solidFill>
          <a:ln w="889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51960" y="228600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Confidence Grade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51960" y="2706624"/>
            <a:ext cx="2103120" cy="329184"/>
          </a:xfrm>
          <a:prstGeom prst="rect">
            <a:avLst/>
          </a:prstGeom>
          <a:solidFill>
            <a:srgbClr val="14003A">
              <a:alpha val="80000"/>
            </a:srgbClr>
          </a:solidFill>
          <a:ln w="889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51960" y="270662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Route Decision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51960" y="3127248"/>
            <a:ext cx="2103120" cy="329184"/>
          </a:xfrm>
          <a:prstGeom prst="rect">
            <a:avLst/>
          </a:prstGeom>
          <a:solidFill>
            <a:srgbClr val="14003A">
              <a:alpha val="80000"/>
            </a:srgbClr>
          </a:solidFill>
          <a:ln w="889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51960" y="31272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Agent Execute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251960" y="3547872"/>
            <a:ext cx="2103120" cy="329184"/>
          </a:xfrm>
          <a:prstGeom prst="rect">
            <a:avLst/>
          </a:prstGeom>
          <a:solidFill>
            <a:srgbClr val="14003A">
              <a:alpha val="80000"/>
            </a:srgbClr>
          </a:solidFill>
          <a:ln w="889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51960" y="35478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C-Suite Report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64808" y="1993392"/>
            <a:ext cx="36576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02552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896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949440" y="1005840"/>
            <a:ext cx="1920240" cy="3200400"/>
          </a:xfrm>
          <a:prstGeom prst="rect">
            <a:avLst/>
          </a:prstGeom>
          <a:solidFill>
            <a:srgbClr val="051505"/>
          </a:solidFill>
          <a:ln w="1524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49440" y="1033272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00C896"/>
                </a:solidFill>
              </a:rPr>
              <a:t>ROUTING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022592" y="1371600"/>
            <a:ext cx="1773936" cy="749808"/>
          </a:xfrm>
          <a:prstGeom prst="rect">
            <a:avLst/>
          </a:prstGeom>
          <a:solidFill>
            <a:srgbClr val="002A00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022592" y="138988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≥0.90 Confidence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22592" y="1591056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/ Ada / Grace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022592" y="2286000"/>
            <a:ext cx="1773936" cy="749808"/>
          </a:xfrm>
          <a:prstGeom prst="rect">
            <a:avLst/>
          </a:prstGeom>
          <a:solidFill>
            <a:srgbClr val="1A1200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022592" y="230428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0.70–0.89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022592" y="2505456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~45s approval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022592" y="3200400"/>
            <a:ext cx="1773936" cy="749808"/>
          </a:xfrm>
          <a:prstGeom prst="rect">
            <a:avLst/>
          </a:prstGeom>
          <a:solidFill>
            <a:srgbClr val="1A000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022592" y="3218688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&lt;0.70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022592" y="3419856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alert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37160" y="4251960"/>
            <a:ext cx="8686800" cy="658368"/>
          </a:xfrm>
          <a:prstGeom prst="rect">
            <a:avLst/>
          </a:prstGeom>
          <a:solidFill>
            <a:srgbClr val="0F1E2E"/>
          </a:solidFill>
          <a:ln w="12700">
            <a:solidFill>
              <a:srgbClr val="6A0D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28600" y="42793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ENSEMBLE  |  GPT-4o (Primary)  ·  Claude 3.5 Sonnet (Secondary)  ·  Snowflake Arctic (Domain Retrieval)  |  Snowflake Cortex Search  ·  14,000+ KB Articles  ·  Weekly Fine-Tune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D4FF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Frustrated User to Resolved Ticket — Fully Automated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8368" y="1097280"/>
            <a:ext cx="640080" cy="640080"/>
          </a:xfrm>
          <a:prstGeom prst="lin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16736" y="1389888"/>
            <a:ext cx="402336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1371600" cy="2926080"/>
          </a:xfrm>
          <a:prstGeom prst="rect">
            <a:avLst/>
          </a:prstGeom>
          <a:solidFill>
            <a:srgbClr val="0F1E2E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37744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raised via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/ chat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03120" y="1097280"/>
            <a:ext cx="640080" cy="640080"/>
          </a:xfrm>
          <a:prstGeom prst="lin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031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761488" y="1389888"/>
            <a:ext cx="402336" cy="457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719072" y="1874520"/>
            <a:ext cx="1371600" cy="2926080"/>
          </a:xfrm>
          <a:prstGeom prst="rect">
            <a:avLst/>
          </a:prstGeom>
          <a:solidFill>
            <a:srgbClr val="0F1E2E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19072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Ingests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64792" y="237744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scrubbed;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extracted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47872" y="1097280"/>
            <a:ext cx="640080" cy="640080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47872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206240" y="1389888"/>
            <a:ext cx="402336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63824" y="1874520"/>
            <a:ext cx="1371600" cy="2926080"/>
          </a:xfrm>
          <a:prstGeom prst="rect">
            <a:avLst/>
          </a:prstGeom>
          <a:solidFill>
            <a:srgbClr val="0F1E2E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63824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9544" y="237744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 over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14,000+ KB articles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92624" y="1097280"/>
            <a:ext cx="640080" cy="640080"/>
          </a:xfrm>
          <a:prstGeom prst="lin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92624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650992" y="1389888"/>
            <a:ext cx="402336" cy="45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08576" y="1874520"/>
            <a:ext cx="1371600" cy="2926080"/>
          </a:xfrm>
          <a:prstGeom prst="rect">
            <a:avLst/>
          </a:prstGeom>
          <a:solidFill>
            <a:srgbClr val="0F1E2E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08576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54296" y="237744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≥0.90 → Auto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0.70–0.89 → HITL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&lt;0.70 → Escalate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37376" y="1097280"/>
            <a:ext cx="640080" cy="640080"/>
          </a:xfrm>
          <a:prstGeom prst="lin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37376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095744" y="1389888"/>
            <a:ext cx="402336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53328" y="1874520"/>
            <a:ext cx="1371600" cy="2926080"/>
          </a:xfrm>
          <a:prstGeom prst="rect">
            <a:avLst/>
          </a:prstGeom>
          <a:solidFill>
            <a:srgbClr val="0F1E2E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53328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99048" y="237744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/ Ada / Grace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remediation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882128" y="1097280"/>
            <a:ext cx="640080" cy="640080"/>
          </a:xfrm>
          <a:prstGeom prst="lin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82128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A0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498080" y="1874520"/>
            <a:ext cx="1371600" cy="2926080"/>
          </a:xfrm>
          <a:prstGeom prst="rect">
            <a:avLst/>
          </a:prstGeom>
          <a:solidFill>
            <a:srgbClr val="0F1E2E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98080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&amp; Reports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43800" y="2377440"/>
            <a:ext cx="1280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closed;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updated; C-Suite notified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709160"/>
            <a:ext cx="8595360" cy="310896"/>
          </a:xfrm>
          <a:prstGeom prst="rect">
            <a:avLst/>
          </a:prstGeom>
          <a:solidFill>
            <a:srgbClr val="05101A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7274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Average resolution time drops from  4.2 hours  →  &lt; 1.3 hours  (v1.0)  →  &lt; 0.8 hours  (v2.0)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C542"/>
                </a:solidFill>
              </a:rPr>
              <a:t>USER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Frustrated User → Morgan Freeman's Voice of Calm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840480" cy="3657600"/>
          </a:xfrm>
          <a:prstGeom prst="rect">
            <a:avLst/>
          </a:prstGeom>
          <a:solidFill>
            <a:srgbClr val="1A0000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84048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BEFORE NINJA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566160" cy="438912"/>
          </a:xfrm>
          <a:prstGeom prst="rect">
            <a:avLst/>
          </a:prstGeom>
          <a:solidFill>
            <a:srgbClr val="2A0808"/>
          </a:solidFill>
          <a:ln w="762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"I've been on hold for 47 MINUTES!"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157984"/>
            <a:ext cx="3566160" cy="438912"/>
          </a:xfrm>
          <a:prstGeom prst="rect">
            <a:avLst/>
          </a:prstGeom>
          <a:solidFill>
            <a:srgbClr val="2A0808"/>
          </a:solidFill>
          <a:ln w="762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same issue happened last week!"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688336"/>
            <a:ext cx="3566160" cy="438912"/>
          </a:xfrm>
          <a:prstGeom prst="rect">
            <a:avLst/>
          </a:prstGeom>
          <a:solidFill>
            <a:srgbClr val="2A0808"/>
          </a:solidFill>
          <a:ln w="762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70662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"Nobody knows who handles this!"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218688"/>
            <a:ext cx="3566160" cy="438912"/>
          </a:xfrm>
          <a:prstGeom prst="rect">
            <a:avLst/>
          </a:prstGeom>
          <a:solidFill>
            <a:srgbClr val="2A0808"/>
          </a:solidFill>
          <a:ln w="762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23697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2 AM and the system is DOWN!"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749040"/>
            <a:ext cx="3566160" cy="438912"/>
          </a:xfrm>
          <a:prstGeom prst="rect">
            <a:avLst/>
          </a:prstGeom>
          <a:solidFill>
            <a:srgbClr val="2A0808"/>
          </a:solidFill>
          <a:ln w="762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76732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missing my client deadline!"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25603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4C542"/>
                </a:solidFill>
              </a:rPr>
              <a:t>⟹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160520" y="3108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C542"/>
                </a:solidFill>
              </a:rPr>
              <a:t>AI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4C542"/>
                </a:solidFill>
              </a:rPr>
              <a:t>MAGIC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0" y="1097280"/>
            <a:ext cx="3840480" cy="3657600"/>
          </a:xfrm>
          <a:prstGeom prst="rect">
            <a:avLst/>
          </a:prstGeom>
          <a:solidFill>
            <a:srgbClr val="001508"/>
          </a:solidFill>
          <a:ln w="190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0" y="1097280"/>
            <a:ext cx="384048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 AFTER NINJA  (Agents speak like Morgan Freeman)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66360" y="1627632"/>
            <a:ext cx="3566160" cy="438912"/>
          </a:xfrm>
          <a:prstGeom prst="rect">
            <a:avLst/>
          </a:prstGeom>
          <a:solidFill>
            <a:srgbClr val="00200A"/>
          </a:solidFill>
          <a:ln w="889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080" y="164592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Alan: </a:t>
            </a:r>
            <a:r>
              <a:rPr lang="en-US" sz="9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"Good evening. I've detected your VPN issue. Resolving in 23 seconds."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66360" y="2157984"/>
            <a:ext cx="3566160" cy="438912"/>
          </a:xfrm>
          <a:prstGeom prst="rect">
            <a:avLst/>
          </a:prstGeom>
          <a:solidFill>
            <a:srgbClr val="00200A"/>
          </a:solidFill>
          <a:ln w="889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12080" y="217627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Ada: </a:t>
            </a:r>
            <a:r>
              <a:rPr lang="en-US" sz="9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API timeout trace is complete. Root cause identified. Fixed."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66360" y="2688336"/>
            <a:ext cx="3566160" cy="438912"/>
          </a:xfrm>
          <a:prstGeom prst="rect">
            <a:avLst/>
          </a:prstGeom>
          <a:solidFill>
            <a:srgbClr val="00200A"/>
          </a:solidFill>
          <a:ln w="889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0" y="270662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Grace: </a:t>
            </a:r>
            <a:r>
              <a:rPr lang="en-US" sz="9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password is reset. MFA re-enrolled. You're good to go."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66360" y="3218688"/>
            <a:ext cx="3566160" cy="438912"/>
          </a:xfrm>
          <a:prstGeom prst="rect">
            <a:avLst/>
          </a:prstGeom>
          <a:solidFill>
            <a:srgbClr val="00200A"/>
          </a:solidFill>
          <a:ln w="889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12080" y="323697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Ninja: </a:t>
            </a:r>
            <a:r>
              <a:rPr lang="en-US" sz="9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"Ticket closed. Your MTTR: 47 seconds. You're welcome."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66360" y="3749040"/>
            <a:ext cx="3566160" cy="438912"/>
          </a:xfrm>
          <a:prstGeom prst="rect">
            <a:avLst/>
          </a:prstGeom>
          <a:solidFill>
            <a:srgbClr val="00200A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12080" y="376732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</a:t>
            </a:r>
            <a:r>
              <a:rPr lang="en-US" sz="9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"✅ 100% automated. Zero hold time. Zero human escalation."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773168"/>
            <a:ext cx="8595360" cy="301752"/>
          </a:xfrm>
          <a:prstGeom prst="rect">
            <a:avLst/>
          </a:prstGeom>
          <a:solidFill>
            <a:srgbClr val="100520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791456"/>
            <a:ext cx="8412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LIVE DEMO AUDIO/VIDEO: Frustrated user calls HelpDesk → Agent (Morgan Freeman voice) resolves in &lt;60s — embed MP4/audio via Insert &gt; Media in PowerPoint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D4FF"/>
                </a:solidFill>
              </a:rPr>
              <a:t>KEY FEATURES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Project Ninja Unstoppable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2651760" cy="1554480"/>
          </a:xfrm>
          <a:prstGeom prst="rect">
            <a:avLst/>
          </a:prstGeom>
          <a:solidFill>
            <a:srgbClr val="0F1E2E"/>
          </a:solidFill>
          <a:ln w="1524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188720"/>
            <a:ext cx="54864" cy="1554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Ensemble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" y="18470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Claude 3.5 + Arctic. No single-vendor lock-in. Automatic failover.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1188720"/>
            <a:ext cx="2651760" cy="1554480"/>
          </a:xfrm>
          <a:prstGeom prst="rect">
            <a:avLst/>
          </a:prstGeom>
          <a:solidFill>
            <a:srgbClr val="0F1E2E"/>
          </a:solidFill>
          <a:ln w="15240">
            <a:solidFill>
              <a:srgbClr val="F4C542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54680" y="1188720"/>
            <a:ext cx="54864" cy="15544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9476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HITL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64408" y="18470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Art.22 compliant. Engineers override any AI decision at any time.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188720"/>
            <a:ext cx="2651760" cy="1554480"/>
          </a:xfrm>
          <a:prstGeom prst="rect">
            <a:avLst/>
          </a:prstGeom>
          <a:solidFill>
            <a:srgbClr val="0F1E2E"/>
          </a:solidFill>
          <a:ln w="1524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89320" y="1188720"/>
            <a:ext cx="54864" cy="1554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40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Zero-ETL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9048" y="18470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egress. PII scrubbed at ingest. Immutable audit trail.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2651760" cy="1554480"/>
          </a:xfrm>
          <a:prstGeom prst="rect">
            <a:avLst/>
          </a:prstGeom>
          <a:solidFill>
            <a:srgbClr val="0F1E2E"/>
          </a:solidFill>
          <a:ln w="15240">
            <a:solidFill>
              <a:srgbClr val="9B59B6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54864" cy="1554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Learning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5844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Cortex Fine-Tune. Every resolution improves accuracy. Autonomous rate: 90% → 97%.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2926080"/>
            <a:ext cx="2651760" cy="1554480"/>
          </a:xfrm>
          <a:prstGeom prst="rect">
            <a:avLst/>
          </a:prstGeom>
          <a:solidFill>
            <a:srgbClr val="0F1E2E"/>
          </a:solidFill>
          <a:ln w="1524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54680" y="2926080"/>
            <a:ext cx="54864" cy="1554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9476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Dashboard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64408" y="35844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MTTR, SLA, cost savings. Snowflake Dynamic Table + PowerBI.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2926080"/>
            <a:ext cx="2651760" cy="1554480"/>
          </a:xfrm>
          <a:prstGeom prst="rect">
            <a:avLst/>
          </a:prstGeom>
          <a:solidFill>
            <a:srgbClr val="0F1E2E"/>
          </a:solidFill>
          <a:ln w="15240">
            <a:solidFill>
              <a:srgbClr val="F4C542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989320" y="2926080"/>
            <a:ext cx="54864" cy="15544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2940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 F1 Accuracy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99048" y="35844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29,651 real tickets. 3 routing paths. 11 engineered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D4FF"/>
                </a:solidFill>
              </a:rPr>
              <a:t>MARKET OPPORTUNITY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$25B+ Market — And We're Built for It</a:t>
            </a:r>
            <a:endParaRPr lang="en-US" sz="26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097280"/>
          <a:ext cx="4572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029200" y="1097280"/>
            <a:ext cx="3840480" cy="3474720"/>
          </a:xfrm>
          <a:prstGeom prst="rect">
            <a:avLst/>
          </a:prstGeom>
          <a:solidFill>
            <a:srgbClr val="0F1E2E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D4FF"/>
                </a:solidFill>
              </a:rPr>
              <a:t>TARGET MARKET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47488" y="1444752"/>
            <a:ext cx="3803904" cy="356616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02352" y="1463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~4,200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0" y="1463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enterprises (SAM)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47488" y="1819656"/>
            <a:ext cx="3803904" cy="356616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02352" y="18379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$150–400K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83680" y="183794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ACV per enterprise / year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47488" y="2194560"/>
            <a:ext cx="3803904" cy="356616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102352" y="22128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0" y="2212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1–2 enterprise pilots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47488" y="2569464"/>
            <a:ext cx="3803904" cy="356616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102352" y="2587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$1.25–3.75M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3680" y="258775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1–2 ARR target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47488" y="2944368"/>
            <a:ext cx="3803904" cy="356616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102352" y="29626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50–150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83680" y="296265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3–5 enterprise scale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47488" y="3319272"/>
            <a:ext cx="3803904" cy="356616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102352" y="3337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$12.5–37.5M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583680" y="3337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3–5 ARR target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047488" y="3694176"/>
            <a:ext cx="3803904" cy="356616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102352" y="37124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200–500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583680" y="371246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5–10 platform tier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047488" y="4069080"/>
            <a:ext cx="3803904" cy="356616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102352" y="40873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$50–125M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583680" y="4087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5–10 ARR potential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CAGRs: ITSM 16.8%  ·  AIOps 21.7%  ·  Agentic AI ~45%  (Gartner, IDC, MarketsandMarkets 2024)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D4FF"/>
                </a:solidFill>
              </a:rPr>
              <a:t>COMPETITIVE ADVANTAGE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Ninja Wins — The Feature Gap is Enormous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2194560" cy="384048"/>
          </a:xfrm>
          <a:prstGeom prst="rect">
            <a:avLst/>
          </a:prstGeom>
          <a:solidFill>
            <a:srgbClr val="132236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10972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1097280"/>
            <a:ext cx="1188720" cy="384048"/>
          </a:xfrm>
          <a:prstGeom prst="rect">
            <a:avLst/>
          </a:prstGeom>
          <a:solidFill>
            <a:srgbClr val="132236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23160" y="10972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v1.0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11880" y="1097280"/>
            <a:ext cx="1188720" cy="384048"/>
          </a:xfrm>
          <a:prstGeom prst="rect">
            <a:avLst/>
          </a:prstGeom>
          <a:solidFill>
            <a:srgbClr val="132236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11880" y="10972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1097280"/>
            <a:ext cx="1005840" cy="384048"/>
          </a:xfrm>
          <a:prstGeom prst="rect">
            <a:avLst/>
          </a:prstGeom>
          <a:solidFill>
            <a:srgbClr val="132236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06440" y="1097280"/>
            <a:ext cx="1051560" cy="384048"/>
          </a:xfrm>
          <a:prstGeom prst="rect">
            <a:avLst/>
          </a:prstGeom>
          <a:solidFill>
            <a:srgbClr val="132236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06440" y="10972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097280"/>
            <a:ext cx="1097280" cy="384048"/>
          </a:xfrm>
          <a:prstGeom prst="rect">
            <a:avLst/>
          </a:prstGeom>
          <a:solidFill>
            <a:srgbClr val="132236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10972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55280" y="1097280"/>
            <a:ext cx="1097280" cy="384048"/>
          </a:xfrm>
          <a:prstGeom prst="rect">
            <a:avLst/>
          </a:prstGeom>
          <a:solidFill>
            <a:srgbClr val="132236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955280" y="10972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Moveworks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1499616"/>
            <a:ext cx="219456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1499616"/>
            <a:ext cx="2194560" cy="3931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Incident Resolution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23160" y="1499616"/>
            <a:ext cx="1188720" cy="393192"/>
          </a:xfrm>
          <a:prstGeom prst="rect">
            <a:avLst/>
          </a:prstGeom>
          <a:solidFill>
            <a:srgbClr val="001A05"/>
          </a:solidFill>
          <a:ln w="63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423160" y="149961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11880" y="1499616"/>
            <a:ext cx="118872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11880" y="149961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00600" y="1499616"/>
            <a:ext cx="100584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1499616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06440" y="1499616"/>
            <a:ext cx="105156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06440" y="149961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0" y="1499616"/>
            <a:ext cx="109728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58000" y="149961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955280" y="1499616"/>
            <a:ext cx="109728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955280" y="149961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28600" y="1911096"/>
            <a:ext cx="219456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28600" y="1911096"/>
            <a:ext cx="2194560" cy="3931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HITL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23160" y="1911096"/>
            <a:ext cx="1188720" cy="393192"/>
          </a:xfrm>
          <a:prstGeom prst="rect">
            <a:avLst/>
          </a:prstGeom>
          <a:solidFill>
            <a:srgbClr val="001A05"/>
          </a:solidFill>
          <a:ln w="63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423160" y="191109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611880" y="1911096"/>
            <a:ext cx="118872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11880" y="191109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00600" y="1911096"/>
            <a:ext cx="100584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00600" y="1911096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806440" y="1911096"/>
            <a:ext cx="105156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806440" y="191109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58000" y="1911096"/>
            <a:ext cx="109728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58000" y="191109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955280" y="1911096"/>
            <a:ext cx="109728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955280" y="191109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28600" y="2322576"/>
            <a:ext cx="219456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28600" y="2322576"/>
            <a:ext cx="2194560" cy="3931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Ensemble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423160" y="2322576"/>
            <a:ext cx="1188720" cy="393192"/>
          </a:xfrm>
          <a:prstGeom prst="rect">
            <a:avLst/>
          </a:prstGeom>
          <a:solidFill>
            <a:srgbClr val="001A05"/>
          </a:solidFill>
          <a:ln w="63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423160" y="232257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611880" y="2322576"/>
            <a:ext cx="118872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11880" y="232257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800600" y="2322576"/>
            <a:ext cx="100584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00600" y="2322576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806440" y="2322576"/>
            <a:ext cx="105156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806440" y="232257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858000" y="2322576"/>
            <a:ext cx="109728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858000" y="232257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955280" y="2322576"/>
            <a:ext cx="109728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955280" y="232257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228600" y="2734056"/>
            <a:ext cx="219456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28600" y="2734056"/>
            <a:ext cx="2194560" cy="3931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Native Zero-ETL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423160" y="2734056"/>
            <a:ext cx="1188720" cy="393192"/>
          </a:xfrm>
          <a:prstGeom prst="rect">
            <a:avLst/>
          </a:prstGeom>
          <a:solidFill>
            <a:srgbClr val="001A05"/>
          </a:solidFill>
          <a:ln w="63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423160" y="273405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3611880" y="2734056"/>
            <a:ext cx="118872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611880" y="273405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800600" y="2734056"/>
            <a:ext cx="100584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800600" y="2734056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806440" y="2734056"/>
            <a:ext cx="105156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806440" y="273405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858000" y="2734056"/>
            <a:ext cx="109728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858000" y="273405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7955280" y="2734056"/>
            <a:ext cx="109728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955280" y="273405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228600" y="3145536"/>
            <a:ext cx="219456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28600" y="3145536"/>
            <a:ext cx="2194560" cy="3931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(GDPR)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423160" y="3145536"/>
            <a:ext cx="1188720" cy="393192"/>
          </a:xfrm>
          <a:prstGeom prst="rect">
            <a:avLst/>
          </a:prstGeom>
          <a:solidFill>
            <a:srgbClr val="001A05"/>
          </a:solidFill>
          <a:ln w="63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423160" y="314553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3611880" y="3145536"/>
            <a:ext cx="118872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611880" y="314553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4800600" y="3145536"/>
            <a:ext cx="100584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800600" y="3145536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5806440" y="3145536"/>
            <a:ext cx="105156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5806440" y="314553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6858000" y="3145536"/>
            <a:ext cx="109728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858000" y="314553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7955280" y="3145536"/>
            <a:ext cx="109728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7955280" y="314553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228600" y="3557016"/>
            <a:ext cx="219456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228600" y="3557016"/>
            <a:ext cx="2194560" cy="3931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Loop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2423160" y="3557016"/>
            <a:ext cx="1188720" cy="393192"/>
          </a:xfrm>
          <a:prstGeom prst="rect">
            <a:avLst/>
          </a:prstGeom>
          <a:solidFill>
            <a:srgbClr val="001A05"/>
          </a:solidFill>
          <a:ln w="63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2423160" y="355701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3611880" y="3557016"/>
            <a:ext cx="118872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3611880" y="355701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4800600" y="3557016"/>
            <a:ext cx="100584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4800600" y="3557016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5806440" y="3557016"/>
            <a:ext cx="105156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5806440" y="355701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6858000" y="3557016"/>
            <a:ext cx="109728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6858000" y="355701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7955280" y="3557016"/>
            <a:ext cx="1097280" cy="393192"/>
          </a:xfrm>
          <a:prstGeom prst="rect">
            <a:avLst/>
          </a:prstGeom>
          <a:solidFill>
            <a:srgbClr val="0A1525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7955280" y="355701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228600" y="3968496"/>
            <a:ext cx="219456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228600" y="3968496"/>
            <a:ext cx="2194560" cy="39319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Agents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2423160" y="3968496"/>
            <a:ext cx="1188720" cy="393192"/>
          </a:xfrm>
          <a:prstGeom prst="rect">
            <a:avLst/>
          </a:prstGeom>
          <a:solidFill>
            <a:srgbClr val="001A05"/>
          </a:solidFill>
          <a:ln w="63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2423160" y="396849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3611880" y="3968496"/>
            <a:ext cx="118872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3611880" y="396849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4800600" y="3968496"/>
            <a:ext cx="100584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4800600" y="3968496"/>
            <a:ext cx="1005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5806440" y="3968496"/>
            <a:ext cx="105156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5806440" y="3968496"/>
            <a:ext cx="1051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6858000" y="3968496"/>
            <a:ext cx="109728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6858000" y="396849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7955280" y="3968496"/>
            <a:ext cx="1097280" cy="393192"/>
          </a:xfrm>
          <a:prstGeom prst="rect">
            <a:avLst/>
          </a:prstGeom>
          <a:solidFill>
            <a:srgbClr val="0F1E2E"/>
          </a:solidFill>
          <a:ln w="635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7955280" y="396849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22" name="Text 120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 |  ~ Partial  |  ✗ Not available  —  No competitor combines multi-LLM agentic reasoning + confidence-gated HITL + Snowflake zero-ETL in one platform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4C542"/>
                </a:solidFill>
              </a:rPr>
              <a:t>FINANCIAL ROI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Are Irresistible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0040" y="1097280"/>
            <a:ext cx="1965960" cy="1097280"/>
          </a:xfrm>
          <a:prstGeom prst="rect">
            <a:avLst/>
          </a:prstGeom>
          <a:solidFill>
            <a:srgbClr val="0F1E2E"/>
          </a:solidFill>
          <a:ln w="19050">
            <a:solidFill>
              <a:srgbClr val="F4C542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1155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C5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0040" y="16642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192024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project start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8880" y="1097280"/>
            <a:ext cx="1965960" cy="1097280"/>
          </a:xfrm>
          <a:prstGeom prst="rect">
            <a:avLst/>
          </a:prstGeom>
          <a:solidFill>
            <a:srgbClr val="0F1E2E"/>
          </a:solidFill>
          <a:ln w="1905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68880" y="11155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89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M8–9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468880" y="16642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68880" y="192024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from start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7720" y="1097280"/>
            <a:ext cx="1965960" cy="1097280"/>
          </a:xfrm>
          <a:prstGeom prst="rect">
            <a:avLst/>
          </a:prstGeom>
          <a:solidFill>
            <a:srgbClr val="0F1E2E"/>
          </a:solidFill>
          <a:ln w="1905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11155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$750K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617720" y="16642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17720" y="192024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enterprise client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66560" y="1097280"/>
            <a:ext cx="1965960" cy="1097280"/>
          </a:xfrm>
          <a:prstGeom prst="rect">
            <a:avLst/>
          </a:prstGeom>
          <a:solidFill>
            <a:srgbClr val="0F1E2E"/>
          </a:solidFill>
          <a:ln w="19050">
            <a:solidFill>
              <a:srgbClr val="9B59B6"/>
            </a:solidFill>
            <a:prstDash val="solid"/>
          </a:ln>
          <a:effectLst>
            <a:outerShdw blurRad="1016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11155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9B59B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$1.46M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766560" y="16642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Saving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66560" y="192024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per client</a:t>
            </a:r>
            <a:endParaRPr lang="en-US" sz="8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274320" y="237744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Shape 24"/>
          <p:cNvSpPr/>
          <p:nvPr/>
        </p:nvSpPr>
        <p:spPr>
          <a:xfrm>
            <a:off x="5440680" y="2359152"/>
            <a:ext cx="1188720" cy="365760"/>
          </a:xfrm>
          <a:prstGeom prst="rect">
            <a:avLst/>
          </a:prstGeom>
          <a:solidFill>
            <a:srgbClr val="132236"/>
          </a:solidFill>
          <a:ln w="762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440680" y="23774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675120" y="2359152"/>
            <a:ext cx="960120" cy="365760"/>
          </a:xfrm>
          <a:prstGeom prst="rect">
            <a:avLst/>
          </a:prstGeom>
          <a:solidFill>
            <a:srgbClr val="132236"/>
          </a:solidFill>
          <a:ln w="762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675120" y="237744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680960" y="2359152"/>
            <a:ext cx="1188720" cy="365760"/>
          </a:xfrm>
          <a:prstGeom prst="rect">
            <a:avLst/>
          </a:prstGeom>
          <a:solidFill>
            <a:srgbClr val="132236"/>
          </a:solidFill>
          <a:ln w="762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680960" y="237744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Ninja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440680" y="2743200"/>
            <a:ext cx="1188720" cy="365760"/>
          </a:xfrm>
          <a:prstGeom prst="rect">
            <a:avLst/>
          </a:prstGeom>
          <a:solidFill>
            <a:srgbClr val="0A1525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40680" y="27614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auto-resolution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675120" y="2743200"/>
            <a:ext cx="960120" cy="365760"/>
          </a:xfrm>
          <a:prstGeom prst="rect">
            <a:avLst/>
          </a:prstGeom>
          <a:solidFill>
            <a:srgbClr val="0A1525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675120" y="276148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7680960" y="2743200"/>
            <a:ext cx="1188720" cy="365760"/>
          </a:xfrm>
          <a:prstGeom prst="rect">
            <a:avLst/>
          </a:prstGeom>
          <a:solidFill>
            <a:srgbClr val="0A1525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680960" y="27614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440680" y="3127248"/>
            <a:ext cx="1188720" cy="365760"/>
          </a:xfrm>
          <a:prstGeom prst="rect">
            <a:avLst/>
          </a:prstGeom>
          <a:solidFill>
            <a:srgbClr val="0F1E2E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440680" y="31455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resolve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675120" y="3127248"/>
            <a:ext cx="960120" cy="365760"/>
          </a:xfrm>
          <a:prstGeom prst="rect">
            <a:avLst/>
          </a:prstGeom>
          <a:solidFill>
            <a:srgbClr val="0F1E2E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675120" y="314553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hours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7680960" y="3127248"/>
            <a:ext cx="1188720" cy="365760"/>
          </a:xfrm>
          <a:prstGeom prst="rect">
            <a:avLst/>
          </a:prstGeom>
          <a:solidFill>
            <a:srgbClr val="0F1E2E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7680960" y="31455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1.3 hrs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440680" y="3511296"/>
            <a:ext cx="1188720" cy="365760"/>
          </a:xfrm>
          <a:prstGeom prst="rect">
            <a:avLst/>
          </a:prstGeom>
          <a:solidFill>
            <a:srgbClr val="0A1525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5440680" y="352958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6675120" y="3511296"/>
            <a:ext cx="960120" cy="365760"/>
          </a:xfrm>
          <a:prstGeom prst="rect">
            <a:avLst/>
          </a:prstGeom>
          <a:solidFill>
            <a:srgbClr val="0A1525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675120" y="352958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7680960" y="3511296"/>
            <a:ext cx="1188720" cy="365760"/>
          </a:xfrm>
          <a:prstGeom prst="rect">
            <a:avLst/>
          </a:prstGeom>
          <a:solidFill>
            <a:srgbClr val="0A1525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7680960" y="352958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93%+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440680" y="3895344"/>
            <a:ext cx="1188720" cy="365760"/>
          </a:xfrm>
          <a:prstGeom prst="rect">
            <a:avLst/>
          </a:prstGeom>
          <a:solidFill>
            <a:srgbClr val="0F1E2E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5440680" y="39136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 saving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675120" y="3895344"/>
            <a:ext cx="960120" cy="365760"/>
          </a:xfrm>
          <a:prstGeom prst="rect">
            <a:avLst/>
          </a:prstGeom>
          <a:solidFill>
            <a:srgbClr val="0F1E2E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6675120" y="391363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7680960" y="3895344"/>
            <a:ext cx="1188720" cy="365760"/>
          </a:xfrm>
          <a:prstGeom prst="rect">
            <a:avLst/>
          </a:prstGeom>
          <a:solidFill>
            <a:srgbClr val="0F1E2E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7680960" y="39136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25–30%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5440680" y="4279392"/>
            <a:ext cx="1188720" cy="365760"/>
          </a:xfrm>
          <a:prstGeom prst="rect">
            <a:avLst/>
          </a:prstGeom>
          <a:solidFill>
            <a:srgbClr val="0A1525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5440680" y="42976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FTEs required (24/7 ops)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6675120" y="4279392"/>
            <a:ext cx="960120" cy="365760"/>
          </a:xfrm>
          <a:prstGeom prst="rect">
            <a:avLst/>
          </a:prstGeom>
          <a:solidFill>
            <a:srgbClr val="0A1525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6675120" y="429768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FTEs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7680960" y="4279392"/>
            <a:ext cx="1188720" cy="365760"/>
          </a:xfrm>
          <a:prstGeom prst="rect">
            <a:avLst/>
          </a:prstGeom>
          <a:solidFill>
            <a:srgbClr val="0A1525"/>
          </a:solidFill>
          <a:ln w="762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7680960" y="42976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FTEs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D4FF"/>
                </a:solidFill>
              </a:rPr>
              <a:t>DEVELOPMENT ROADMAP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to Market Dominance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7200" y="1170432"/>
            <a:ext cx="8229600" cy="7315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3000" y="1078992"/>
            <a:ext cx="256032" cy="256032"/>
          </a:xfrm>
          <a:prstGeom prst="lin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2011680" cy="3383280"/>
          </a:xfrm>
          <a:prstGeom prst="rect">
            <a:avLst/>
          </a:prstGeom>
          <a:solidFill>
            <a:srgbClr val="0F1E2E"/>
          </a:solidFill>
          <a:ln w="15240">
            <a:solidFill>
              <a:srgbClr val="00D4FF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20116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490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0624" y="1810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Development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" y="2176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0624" y="24871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29,651 ticket dataset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0624" y="28346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PII scrubbing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0624" y="31821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(11 features)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" y="352958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build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624" y="38770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 personas defined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1078992"/>
            <a:ext cx="256032" cy="256032"/>
          </a:xfrm>
          <a:prstGeom prst="line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468880" y="1463040"/>
            <a:ext cx="2011680" cy="3383280"/>
          </a:xfrm>
          <a:prstGeom prst="rect">
            <a:avLst/>
          </a:prstGeom>
          <a:solidFill>
            <a:srgbClr val="0F1E2E"/>
          </a:solidFill>
          <a:ln w="15240">
            <a:solidFill>
              <a:srgbClr val="F4C542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68880" y="1463040"/>
            <a:ext cx="2011680" cy="64008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468880" y="1490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23744" y="1810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Refinement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523744" y="2176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23744" y="24871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Cortex ML classifier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23744" y="28346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HITL routing thresholds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23744" y="31821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14,000+ KB articles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23744" y="352958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built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23744" y="38770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Art.22 compliance validated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49240" y="1078992"/>
            <a:ext cx="256032" cy="256032"/>
          </a:xfrm>
          <a:prstGeom prst="lin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0" y="1463040"/>
            <a:ext cx="2011680" cy="3383280"/>
          </a:xfrm>
          <a:prstGeom prst="rect">
            <a:avLst/>
          </a:prstGeom>
          <a:solidFill>
            <a:srgbClr val="0F1E2E"/>
          </a:solidFill>
          <a:ln w="15240">
            <a:solidFill>
              <a:srgbClr val="00C896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0" y="1463040"/>
            <a:ext cx="201168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0" y="1490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26864" y="1810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Pilots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626864" y="2176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11–18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26864" y="24871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500-ticket live enterprise pilot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26864" y="28346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Month 8–9 achieved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26864" y="31821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G-Eval / RAGAS quality validation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26864" y="352958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auto-remediation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26864" y="38770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Cortex Fine-Tune live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52360" y="1078992"/>
            <a:ext cx="256032" cy="256032"/>
          </a:xfrm>
          <a:prstGeom prst="lin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675120" y="1463040"/>
            <a:ext cx="2011680" cy="3383280"/>
          </a:xfrm>
          <a:prstGeom prst="rect">
            <a:avLst/>
          </a:prstGeom>
          <a:solidFill>
            <a:srgbClr val="0F1E2E"/>
          </a:solidFill>
          <a:ln w="1524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675120" y="1463040"/>
            <a:ext cx="2011680" cy="6400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675120" y="1490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729984" y="1810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Platform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729984" y="21762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729984" y="24871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 (per-client FT)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29984" y="28346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/ SecOps / HR expansion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29984" y="31821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Native App listing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29984" y="3529584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95–97% autonomous v2.0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29984" y="38770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&amp; GAN simulations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55448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10896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0"/>
            <a:ext cx="2743" cy="5143500"/>
          </a:xfrm>
          <a:prstGeom prst="rect">
            <a:avLst/>
          </a:prstGeom>
          <a:solidFill>
            <a:srgbClr val="0099BB">
              <a:alpha val="12000"/>
            </a:srgbClr>
          </a:solidFill>
          <a:ln w="12700">
            <a:solidFill>
              <a:srgbClr val="0099B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0D4FF"/>
                </a:solidFill>
              </a:rPr>
              <a:t>SWOT ANALYSIS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Far Outweigh the Risks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74320" y="1097280"/>
            <a:ext cx="4206240" cy="1874520"/>
          </a:xfrm>
          <a:prstGeom prst="rect">
            <a:avLst/>
          </a:prstGeom>
          <a:solidFill>
            <a:srgbClr val="0F1E2E"/>
          </a:solidFill>
          <a:ln w="1524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64008" cy="18745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444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 F1 accuracy on held-out test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1719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validated routing paths from real 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1993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ensemble — no vendor lock-in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267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Art.22 HITL built-in natively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zero-ETL — no data egress risk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8163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learning via weekly Fine-Tune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4206240" cy="1874520"/>
          </a:xfrm>
          <a:prstGeom prst="rect">
            <a:avLst/>
          </a:prstGeom>
          <a:solidFill>
            <a:srgbClr val="0F1E2E"/>
          </a:solidFill>
          <a:ln w="1524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64008" cy="18745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1444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— limited production track record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1719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needs ongoing calibration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1993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provider dependency risk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267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runbook corpus may miss novel failures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25420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adds ~45s delay for mid-confidence tickets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154680"/>
            <a:ext cx="4206240" cy="1874520"/>
          </a:xfrm>
          <a:prstGeom prst="rect">
            <a:avLst/>
          </a:prstGeom>
          <a:solidFill>
            <a:srgbClr val="0F1E2E"/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154680"/>
            <a:ext cx="64008" cy="18745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35021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CAGR 21.7% — large expanding TAM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37764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compliance creates regulatory moat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40507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Marketplace: 9,000+ enterprises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4325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Post-M&amp;A IT consolidation wave expanding ICP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4599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domains: FinOps / SecOps / HR / Procurement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154680"/>
            <a:ext cx="4206240" cy="1874520"/>
          </a:xfrm>
          <a:prstGeom prst="rect">
            <a:avLst/>
          </a:prstGeom>
          <a:solidFill>
            <a:srgbClr val="0F1E2E"/>
          </a:solidFill>
          <a:ln w="1524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63440" y="3154680"/>
            <a:ext cx="64008" cy="1874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5021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launches competing AI agent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0600" y="37764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outage reduces autonomous capacity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40507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 aversion slows adoption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4325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regulation tightens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0600" y="4599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 commoditise orchestration layer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0" y="91440"/>
            <a:ext cx="41148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3000" b="1" dirty="0">
                <a:solidFill>
                  <a:srgbClr val="0099BB">
                    <a:alpha val="10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</a:t>
            </a:r>
            <a:endParaRPr lang="en-US" sz="43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AGENTS. ONE PLATFORM. ZERO MANUAL TRIAGE.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kern="0" spc="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Project Ninja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90%+ of enterprise IT incidents autonomously — 24/7.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92024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90%+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2735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Resolution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2743200"/>
            <a:ext cx="192024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C5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&lt; 1.3h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32735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192024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9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32735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2743200"/>
            <a:ext cx="192024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59B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66560" y="32735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0" y="4681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NinjaOps AI Ltd  ·  Snowflake Cortex AI  ·  LangGraph  ·  GPT-4o + Claude 3.5  ·  Capstone Group 5  ·  Version 1.0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1533</Words>
  <Application>Microsoft Macintosh PowerPoint</Application>
  <PresentationFormat>On-screen Show (16:9)</PresentationFormat>
  <Paragraphs>366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Ninja — Agentic AI Command Center</dc:title>
  <dc:subject>PptxGenJS Presentation</dc:subject>
  <dc:creator>NinjaOps AI — Group 5 Capstone</dc:creator>
  <cp:lastModifiedBy>Ritam Shome</cp:lastModifiedBy>
  <cp:revision>2</cp:revision>
  <dcterms:created xsi:type="dcterms:W3CDTF">2026-05-25T05:56:21Z</dcterms:created>
  <dcterms:modified xsi:type="dcterms:W3CDTF">2026-05-25T06:00:55Z</dcterms:modified>
</cp:coreProperties>
</file>