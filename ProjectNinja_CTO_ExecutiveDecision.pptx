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6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36576" cy="685800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032" y="1611376"/>
            <a:ext cx="2283968" cy="2283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00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2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129844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88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41148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239572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29260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Executive Pitch Deck  ·  Internal  ·  Group 5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429000"/>
            <a:ext cx="1664208" cy="420624"/>
          </a:xfrm>
          <a:prstGeom prst="rect">
            <a:avLst/>
          </a:prstGeom>
          <a:solidFill>
            <a:srgbClr val="00C875">
              <a:alpha val="78000"/>
            </a:srgbClr>
          </a:solidFill>
          <a:ln w="1905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342900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0" y="3429000"/>
            <a:ext cx="1664208" cy="420624"/>
          </a:xfrm>
          <a:prstGeom prst="rect">
            <a:avLst/>
          </a:prstGeom>
          <a:solidFill>
            <a:srgbClr val="F5A623">
              <a:alpha val="78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286000" y="342900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127% Year-1 ROI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0" y="3429000"/>
            <a:ext cx="1664208" cy="420624"/>
          </a:xfrm>
          <a:prstGeom prst="rect">
            <a:avLst/>
          </a:prstGeom>
          <a:solidFill>
            <a:srgbClr val="00BFFF">
              <a:alpha val="78000"/>
            </a:srgbClr>
          </a:solidFill>
          <a:ln w="190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0" y="342900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$1.46M / 5yr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429000"/>
            <a:ext cx="1664208" cy="420624"/>
          </a:xfrm>
          <a:prstGeom prst="rect">
            <a:avLst/>
          </a:prstGeom>
          <a:solidFill>
            <a:srgbClr val="E8720C">
              <a:alpha val="78000"/>
            </a:srgbClr>
          </a:solidFill>
          <a:ln w="1905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0" y="342900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Mth 3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0" y="6035040"/>
            <a:ext cx="12161520" cy="3657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6108192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 Kashikar  ·  Sivanand Rao  ·  Bharath PU  ·  Priti Trivedi  ·  Ritam Shome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641908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ramanath.ramnath@gmail.com  ·  sivanandrao@gmail.com  ·  bharath.pu@gmail.com  ·  pritrivedi30@gmail.com  ·  ritamshome@gmail.com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93DA0B5-42A1-FEDC-A33C-39241DA8A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4336" y="3898646"/>
            <a:ext cx="2107184" cy="20906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832104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Answers for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maps to a CTO decision checkpoint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553212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55321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60934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1288" y="1572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1288" y="2011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burning platform — cost, risk, post-acquisition chaos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688336"/>
            <a:ext cx="553212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688336"/>
            <a:ext cx="55321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" y="28163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61288" y="27797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Ninja?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61288" y="32186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agentic AI specialists + LangGraph + Snowflake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895344"/>
            <a:ext cx="553212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895344"/>
            <a:ext cx="55321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" y="402336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61288" y="39867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61288" y="44256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confidence routing, HITL gateway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5102352"/>
            <a:ext cx="553212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5102352"/>
            <a:ext cx="55321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" y="523036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61288" y="51937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Deliver?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61288" y="563270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metrics, 3 live demos from real data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1481328"/>
            <a:ext cx="553212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63640" y="1481328"/>
            <a:ext cx="55321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28232" y="1609344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13448" y="1572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Cost?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13448" y="20116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investment, Month-3 break-even, 127% ROI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2688336"/>
            <a:ext cx="553212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63640" y="2688336"/>
            <a:ext cx="55321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28232" y="28163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13448" y="277977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Safe?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13448" y="32186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HITL guardrails, governance, risk register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895344"/>
            <a:ext cx="553212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63640" y="3895344"/>
            <a:ext cx="55321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28232" y="4023360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13448" y="398678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013448" y="44256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blueprint — the reusable enterprise AI pattern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5102352"/>
            <a:ext cx="553212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263640" y="5102352"/>
            <a:ext cx="55321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28232" y="5230368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013448" y="51937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It?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013448" y="563270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roadmap, governance model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938528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Burning Platform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Post-acquisition: 140,000 users · 6 siloed tools · Manual Tier-1/2 · $750K+ annual waste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3657600" cy="4096512"/>
          </a:xfrm>
          <a:prstGeom prst="rect">
            <a:avLst/>
          </a:prstGeom>
          <a:solidFill>
            <a:srgbClr val="1C0A0A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36576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64208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6642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2648" y="2286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612648" y="28712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Ignored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" y="3200400"/>
            <a:ext cx="3291840" cy="36576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648" y="331012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overlapping monitoring tools. Engineers spending hours on noise, not remediation.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" y="4114800"/>
            <a:ext cx="329184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" y="4114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Cost: $380K/yr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25112" y="1481328"/>
            <a:ext cx="3657600" cy="4096512"/>
          </a:xfrm>
          <a:prstGeom prst="rect">
            <a:avLst/>
          </a:prstGeom>
          <a:solidFill>
            <a:srgbClr val="1C0A0A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25112" y="1481328"/>
            <a:ext cx="36576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64208"/>
            <a:ext cx="475488" cy="47548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02352" y="16642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526280" y="2286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hrs</a:t>
            </a:r>
            <a:endParaRPr lang="en-US" sz="3600" dirty="0"/>
          </a:p>
        </p:txBody>
      </p:sp>
      <p:sp>
        <p:nvSpPr>
          <p:cNvPr id="22" name="Text 18"/>
          <p:cNvSpPr/>
          <p:nvPr/>
        </p:nvSpPr>
        <p:spPr>
          <a:xfrm>
            <a:off x="4526280" y="28712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MTTR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26280" y="3200400"/>
            <a:ext cx="3291840" cy="36576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526280" y="331012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engineers manually triaging tickets. 18% of SLAs breached every month.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26280" y="4114800"/>
            <a:ext cx="329184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4526280" y="4114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Cost: $210K/yr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8238744" y="1481328"/>
            <a:ext cx="3657600" cy="4096512"/>
          </a:xfrm>
          <a:prstGeom prst="rect">
            <a:avLst/>
          </a:prstGeom>
          <a:solidFill>
            <a:srgbClr val="1C0A0A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238744" y="1481328"/>
            <a:ext cx="36576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664208"/>
            <a:ext cx="475488" cy="4754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015984" y="16642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439912" y="2286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3600" dirty="0"/>
          </a:p>
        </p:txBody>
      </p:sp>
      <p:sp>
        <p:nvSpPr>
          <p:cNvPr id="32" name="Text 27"/>
          <p:cNvSpPr/>
          <p:nvPr/>
        </p:nvSpPr>
        <p:spPr>
          <a:xfrm>
            <a:off x="8439912" y="28712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439912" y="3200400"/>
            <a:ext cx="3291840" cy="36576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8439912" y="331012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truth. Same incidents recur because fixes aren't captured.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439912" y="4114800"/>
            <a:ext cx="329184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8439912" y="4114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Cost: $160K/yr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411480" y="5715000"/>
            <a:ext cx="11338560" cy="749808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502920" y="5715000"/>
            <a:ext cx="11155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WASTE:  $750,000+  ·  MTTR: 4.2 hours  ·  SLA Compliance: 72%  ·  This is the status quo — before Ninja.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033272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— One Sentence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AI agents that resolve 90% of IT incidents autonomously, 24/7, without human intervention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3657600" cy="804672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426464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0" y="14264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NODE  ·  LangGraph + GPT-4o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51960" y="2139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Confidence → Route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560320"/>
            <a:ext cx="3657600" cy="3364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11480" y="2560320"/>
            <a:ext cx="365760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72491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6152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216152" y="30358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Azure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" y="3429000"/>
            <a:ext cx="3291840" cy="274320"/>
          </a:xfrm>
          <a:prstGeom prst="rect">
            <a:avLst/>
          </a:prstGeom>
          <a:solidFill>
            <a:srgbClr val="00BFFF">
              <a:alpha val="78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12648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GPT-4o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12648" y="3822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Terraform · AWS SDK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" y="4315968"/>
            <a:ext cx="3291840" cy="384048"/>
          </a:xfrm>
          <a:prstGeom prst="rect">
            <a:avLst/>
          </a:prstGeom>
          <a:solidFill>
            <a:srgbClr val="00C875">
              <a:alpha val="72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12648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≥0.90  →  Autonomous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2648" y="4791456"/>
            <a:ext cx="3291840" cy="384048"/>
          </a:xfrm>
          <a:prstGeom prst="rect">
            <a:avLst/>
          </a:prstGeom>
          <a:solidFill>
            <a:srgbClr val="F5A623">
              <a:alpha val="72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12648" y="47914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  →  HITL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12648" y="5266944"/>
            <a:ext cx="3291840" cy="384048"/>
          </a:xfrm>
          <a:prstGeom prst="rect">
            <a:avLst/>
          </a:prstGeom>
          <a:solidFill>
            <a:srgbClr val="EF4444">
              <a:alpha val="7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12648" y="5266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&lt;0.70  →  Escalate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325112" y="2560320"/>
            <a:ext cx="3657600" cy="3364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325112" y="256032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2724912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29784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Ada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129784" y="30358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NetScaler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26280" y="3429000"/>
            <a:ext cx="3291840" cy="274320"/>
          </a:xfrm>
          <a:prstGeom prst="rect">
            <a:avLst/>
          </a:prstGeom>
          <a:solidFill>
            <a:srgbClr val="F5A623">
              <a:alpha val="78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52628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Claude 3.5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526280" y="3822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NetScaler REST · Datadog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526280" y="4315968"/>
            <a:ext cx="3291840" cy="384048"/>
          </a:xfrm>
          <a:prstGeom prst="rect">
            <a:avLst/>
          </a:prstGeom>
          <a:solidFill>
            <a:srgbClr val="00C875">
              <a:alpha val="72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4526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≥0.90  →  Autonomous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526280" y="4791456"/>
            <a:ext cx="3291840" cy="384048"/>
          </a:xfrm>
          <a:prstGeom prst="rect">
            <a:avLst/>
          </a:prstGeom>
          <a:solidFill>
            <a:srgbClr val="F5A623">
              <a:alpha val="72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4526280" y="47914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  →  HITL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526280" y="5266944"/>
            <a:ext cx="3291840" cy="384048"/>
          </a:xfrm>
          <a:prstGeom prst="rect">
            <a:avLst/>
          </a:prstGeom>
          <a:solidFill>
            <a:srgbClr val="EF4444">
              <a:alpha val="7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4526280" y="5266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&lt;0.70  →  Escalate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8238744" y="2560320"/>
            <a:ext cx="3657600" cy="3364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8238744" y="2560320"/>
            <a:ext cx="3657600" cy="4572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2724912"/>
            <a:ext cx="502920" cy="5029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9043416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Grace</a:t>
            </a:r>
            <a:endParaRPr lang="en-US" sz="1500" dirty="0"/>
          </a:p>
        </p:txBody>
      </p:sp>
      <p:sp>
        <p:nvSpPr>
          <p:cNvPr id="43" name="Text 37"/>
          <p:cNvSpPr/>
          <p:nvPr/>
        </p:nvSpPr>
        <p:spPr>
          <a:xfrm>
            <a:off x="9043416" y="30358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VDI &amp; Endpoints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8439912" y="3429000"/>
            <a:ext cx="3291840" cy="274320"/>
          </a:xfrm>
          <a:prstGeom prst="rect">
            <a:avLst/>
          </a:prstGeom>
          <a:solidFill>
            <a:srgbClr val="00C875">
              <a:alpha val="78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8439912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MS CoPilot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8439912" y="3822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Citrix API · Intune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8439912" y="4315968"/>
            <a:ext cx="3291840" cy="384048"/>
          </a:xfrm>
          <a:prstGeom prst="rect">
            <a:avLst/>
          </a:prstGeom>
          <a:solidFill>
            <a:srgbClr val="00C875">
              <a:alpha val="72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8439912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≥0.90  →  Autonomous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8439912" y="4791456"/>
            <a:ext cx="3291840" cy="384048"/>
          </a:xfrm>
          <a:prstGeom prst="rect">
            <a:avLst/>
          </a:prstGeom>
          <a:solidFill>
            <a:srgbClr val="F5A623">
              <a:alpha val="72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8439912" y="47914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  →  HITL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8439912" y="5266944"/>
            <a:ext cx="3291840" cy="384048"/>
          </a:xfrm>
          <a:prstGeom prst="rect">
            <a:avLst/>
          </a:prstGeom>
          <a:solidFill>
            <a:srgbClr val="EF4444">
              <a:alpha val="7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8439912" y="5266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&lt;0.70  →  Escalate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4251960" y="5870448"/>
            <a:ext cx="3657600" cy="640080"/>
          </a:xfrm>
          <a:prstGeom prst="rect">
            <a:avLst/>
          </a:prstGeom>
          <a:solidFill>
            <a:srgbClr val="06102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5971032"/>
            <a:ext cx="347472" cy="347472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4846320" y="59710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  ·  Knowledge Data Warehouse  ·  RAG  ·  Cortex ML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435608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Platform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independently scalable · Zero data egress · GDPR by design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1338560" cy="47548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DATA INGESTION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1133856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9568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· Datadog · ServiceNow API · Citrix Director · Snowpipe Streaming  |  29,651 IT tickets + 242K+ Kaggle events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0" y="2377440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395728"/>
            <a:ext cx="11338560" cy="475488"/>
          </a:xfrm>
          <a:prstGeom prst="rect">
            <a:avLst/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SNOWFLAKE CORTEX AI  ·  Knowledge Data Warehouse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1133856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88950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→ NLP Classification (97.1% F1) → RAG Vector Search → Cortex AISQL  |  Zero-ETL; no data egress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0" y="3310128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328416"/>
            <a:ext cx="11338560" cy="475488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328416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LANGGRAPH ORCHESTRATION  ·  Multi-LLM Agents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803904"/>
            <a:ext cx="1133856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3822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snowflake_ingest → neural_net_predict → copilot_router → [Agent Alan/Ada/Grace | human_supervisor] → c_suite_metrics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0" y="4242816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4261104"/>
            <a:ext cx="11338560" cy="475488"/>
          </a:xfrm>
          <a:prstGeom prst="rect">
            <a:avLst/>
          </a:prstGeom>
          <a:solidFill>
            <a:srgbClr val="5C4A00"/>
          </a:solidFill>
          <a:ln w="12700">
            <a:solidFill>
              <a:srgbClr val="5C4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261104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HUMAN-IN-THE-LOOP (HITL)  ·  10% Gateway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" y="4736592"/>
            <a:ext cx="1133856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4754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[0.70–0.89] Slack/Teams Approval Gate  ·  [&lt;0.70] PagerDuty + AI Context Bundle  ·  Every resolution → Snowflake training pipeline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0" y="5175504"/>
            <a:ext cx="1216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5193792"/>
            <a:ext cx="11338560" cy="475488"/>
          </a:xfrm>
          <a:prstGeom prst="rect">
            <a:avLst/>
          </a:prstGeom>
          <a:solidFill>
            <a:srgbClr val="057A55"/>
          </a:solidFill>
          <a:ln w="12700">
            <a:solidFill>
              <a:srgbClr val="05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51937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BUSINESS OUTCOMES  ·  Continuous Learning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1480" y="5669280"/>
            <a:ext cx="11338560" cy="402336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5687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  ·  MTTR −74%  ·  $300K Net Saving/yr  ·  127% Year-1 ROI  ·  Weekly Cortex Fine-Tune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2340864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REAL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 Action — 3 Tickets from 29,651 CSV Records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formula: priority_numeric + urgency_keywords×0.03 + tag_count×0.01 — no mocked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11338560" cy="15361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1600200" cy="1536192"/>
          </a:xfrm>
          <a:prstGeom prst="rect">
            <a:avLst/>
          </a:prstGeom>
          <a:solidFill>
            <a:srgbClr val="00C875">
              <a:alpha val="82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conf=0.99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21408" y="15361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#0  ·  Technical Support  ·  Priority: HIGH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121408" y="19202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priority=high · urgency_kw=3 · tags=Outage,IT,Account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21408" y="22128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0.85 + 3×0.03 + 5×0.01 = 0.99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1792224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AUTO-RESOLVED by Agent Alan — Outage + IT + HIGH triggered immediate remediation. Zero human touch. MTTR target: &lt;10 min.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11338560" cy="15361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108960"/>
            <a:ext cx="1600200" cy="1536192"/>
          </a:xfrm>
          <a:prstGeom prst="rect">
            <a:avLst/>
          </a:prstGeom>
          <a:solidFill>
            <a:srgbClr val="F5A623">
              <a:alpha val="82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4564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950208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conf=0.73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21408" y="32004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#1  ·  Returns &amp; Exchanges  ·  Priority: MEDIUM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121408" y="35844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priority=medium · urgency_kw=0 · tags=Product,Feature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21408" y="38770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0.70 + 0×0.03 + 3×0.01 = 0.73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345643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interrupt_before pauses. Slack: 'Approve / Modify / Reject'. Engineer decides in ~45 seconds.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773168"/>
            <a:ext cx="11338560" cy="15361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4773168"/>
            <a:ext cx="1600200" cy="1536192"/>
          </a:xfrm>
          <a:prstGeom prst="rect">
            <a:avLst/>
          </a:prstGeom>
          <a:solidFill>
            <a:srgbClr val="EF4444">
              <a:alpha val="8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51206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5614416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conf=0.60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21408" y="48646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#2  ·  Billing &amp; Payments  ·  Priority: LOW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121408" y="52486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priority=low · urgency_kw=0 · tags=Billing,Payment,Account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21408" y="55412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0.55 + 0×0.03 + 5×0.01 = 0.60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9400" y="5120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alert + AI context bundle (log tail + similar incidents + hypothesis). Engineer resolution → Snowflake training pipeline.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2039112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— Measured Outcomes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Capgemini/Snowflake Cortex case study 2025 · ServiceNow AI Agents production metrics 2024–2025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5349240" cy="2468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0" y="1463040"/>
            <a:ext cx="5806440" cy="384048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0" y="14630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07808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87968" y="146304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241280" y="14630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1847088"/>
            <a:ext cx="5806440" cy="42062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16752" y="18470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MTTR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80960" y="18470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942832" y="18470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hrs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287000" y="184708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-74%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0" y="2304288"/>
            <a:ext cx="5806440" cy="420624"/>
          </a:xfrm>
          <a:prstGeom prst="rect">
            <a:avLst/>
          </a:prstGeom>
          <a:solidFill>
            <a:srgbClr val="0C1E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16752" y="23042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80960" y="23042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942832" y="23042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287000" y="230428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+75 ppt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43600" y="2761488"/>
            <a:ext cx="5806440" cy="42062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16752" y="27614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Adherence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680960" y="27614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942832" y="27614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93%+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287000" y="276148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 ppt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943600" y="3218688"/>
            <a:ext cx="5806440" cy="420624"/>
          </a:xfrm>
          <a:prstGeom prst="rect">
            <a:avLst/>
          </a:prstGeom>
          <a:solidFill>
            <a:srgbClr val="0C1E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016752" y="32186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Alert-to-Action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680960" y="32186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18–40 min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942832" y="32186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 sec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287000" y="321868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-98%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943600" y="3675888"/>
            <a:ext cx="5806440" cy="42062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016752" y="36758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680960" y="36758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942832" y="36758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&lt;8%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287000" y="367588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-76%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943600" y="4133088"/>
            <a:ext cx="5806440" cy="420624"/>
          </a:xfrm>
          <a:prstGeom prst="rect">
            <a:avLst/>
          </a:prstGeom>
          <a:solidFill>
            <a:srgbClr val="0C1E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016752" y="41330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Runbooks/Month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680960" y="41330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manual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942832" y="41330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auto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0287000" y="413308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+7x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943600" y="4590288"/>
            <a:ext cx="5806440" cy="42062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016752" y="45902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Coverage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680960" y="45902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FTEs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942832" y="45902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FTEs (oversight)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0287000" y="459028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-75%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5943600" y="5047488"/>
            <a:ext cx="5806440" cy="420624"/>
          </a:xfrm>
          <a:prstGeom prst="rect">
            <a:avLst/>
          </a:prstGeom>
          <a:solidFill>
            <a:srgbClr val="0C1E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016752" y="5047488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Satisfaction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7680960" y="50474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2.8/5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8942832" y="504748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4.3/5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10287000" y="504748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36776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Case — Precision Numbers Only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inflated projections. Source: actual cost quotes and documented operational savings.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274320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months)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389888"/>
            <a:ext cx="274320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1389888"/>
            <a:ext cx="2743200" cy="4572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1481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55848" y="20482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Point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0216" y="1389888"/>
            <a:ext cx="274320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0216" y="1389888"/>
            <a:ext cx="274320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0216" y="1481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00216" y="20482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44584" y="1389888"/>
            <a:ext cx="2743200" cy="107899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44584" y="1389888"/>
            <a:ext cx="2743200" cy="4572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44584" y="14813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$1.46M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244584" y="20482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Cumulative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10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97480"/>
            <a:ext cx="5486400" cy="2514600"/>
          </a:xfrm>
          <a:prstGeom prst="rect">
            <a:avLst/>
          </a:prstGeom>
        </p:spPr>
      </p:pic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97480"/>
            <a:ext cx="5303520" cy="248716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1480" y="5376672"/>
            <a:ext cx="11338560" cy="1097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11480" y="5376672"/>
            <a:ext cx="113385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532120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96112" y="55046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is front-loaded — Year-1 delivers 127% on $100K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5532120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730752" y="55046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Month 3 minimises financial risk</a:t>
            </a:r>
            <a:endParaRPr lang="en-US" sz="10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5532120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565392" y="55046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Cortex Fine-Tune compounds returns over time</a:t>
            </a:r>
            <a:endParaRPr lang="en-US" sz="105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553212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400032" y="55046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$300K/yr net saving (Annual); $1.46M cumulative over 5 years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36776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SAVINGS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$300K Annual Saving Comes From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saving stream independently validated against pain-point costs — no blended assumptions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5349240" cy="2633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0" y="1417320"/>
            <a:ext cx="5806440" cy="41148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1417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Stream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55280" y="1417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326880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Achieved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0" y="1828800"/>
            <a:ext cx="580644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43600" y="1828800"/>
            <a:ext cx="54864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89904" y="1874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Waste Eliminated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73568" y="187452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$380K/yr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372600" y="1874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6-tool alert triage automated 100%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0" y="2578608"/>
            <a:ext cx="5806440" cy="694944"/>
          </a:xfrm>
          <a:prstGeom prst="rect">
            <a:avLst/>
          </a:prstGeom>
          <a:solidFill>
            <a:srgbClr val="0C1E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43600" y="2578608"/>
            <a:ext cx="54864" cy="6949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89904" y="26243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Penalty Avoidance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73568" y="2624328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$210K/yr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72600" y="262432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93%+ SLA compliance vs 72% baseline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943600" y="3328416"/>
            <a:ext cx="580644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43600" y="3328416"/>
            <a:ext cx="54864" cy="69494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9904" y="33741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 Reduction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973568" y="3374136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$160K/yr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72600" y="337413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incidents drop 34% → &lt;8%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943600" y="4078224"/>
            <a:ext cx="5806440" cy="694944"/>
          </a:xfrm>
          <a:prstGeom prst="rect">
            <a:avLst/>
          </a:prstGeom>
          <a:solidFill>
            <a:srgbClr val="0C1E38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943600" y="4078224"/>
            <a:ext cx="54864" cy="694944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089904" y="4123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Cost Optimisation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973568" y="412394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$712K/yr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372600" y="412394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FTEs → 3 FTEs oversight model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943600" y="4846320"/>
            <a:ext cx="5806440" cy="548640"/>
          </a:xfrm>
          <a:prstGeom prst="rect">
            <a:avLst/>
          </a:prstGeom>
          <a:solidFill>
            <a:srgbClr val="00C875">
              <a:alpha val="80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80760" y="4846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ANNUAL SAVING: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869680" y="48463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~$1.46M / 5 yrs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11480" y="555955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Net saving after $41K/yr ongoing ops costs = ~$300K/yr from Year 2 onwards. $1.46M is 5-year cumulative total.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737360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 — How We Measure Success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has a baseline, target, and measurement mechanism built into the Snowflake audit log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11338560" cy="40233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10512" y="144475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Metric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47488" y="14447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72784" y="1444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0" y="1444752"/>
            <a:ext cx="4315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Mechanism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1847088"/>
            <a:ext cx="11338560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1847088"/>
            <a:ext cx="54864" cy="5120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188366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0512" y="188366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Resolve (MTTR)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47488" y="18836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hours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2784" y="1883664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&lt;1.3 hours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1883664"/>
            <a:ext cx="3986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ticket lifecycle timestamps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395728"/>
            <a:ext cx="11338560" cy="512064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2395728"/>
            <a:ext cx="54864" cy="5120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243230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10512" y="243230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Resolution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47488" y="243230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72784" y="2432304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0" y="2432304"/>
            <a:ext cx="3986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route='autonomous' counter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2944368"/>
            <a:ext cx="11338560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2944368"/>
            <a:ext cx="54864" cy="5120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352" y="298094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10512" y="298094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Alert Rate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47488" y="298094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72784" y="2980944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80960" y="2980944"/>
            <a:ext cx="3986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 ratio in Snowflake audit_log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3493008"/>
            <a:ext cx="11338560" cy="512064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" y="3493008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0352" y="352958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10512" y="352958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Net Cost Saving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47488" y="352958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72784" y="3529584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~$300K/yr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3529584"/>
            <a:ext cx="3986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cost delta + SLA penalty avoidance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041648"/>
            <a:ext cx="11338560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11480" y="4041648"/>
            <a:ext cx="54864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0352" y="40782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810512" y="407822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Cumulative Saving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47488" y="407822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72784" y="4078224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$1.46M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680960" y="4078224"/>
            <a:ext cx="3986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P&amp;L tracker in C-suite dashboard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" y="4590288"/>
            <a:ext cx="11338560" cy="512064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11480" y="4590288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30352" y="462686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810512" y="462686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Rate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47488" y="46268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72784" y="4626864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≥93%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80960" y="4626864"/>
            <a:ext cx="3986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SLA breach flag per ticket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11480" y="5138928"/>
            <a:ext cx="11338560" cy="51206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11480" y="5138928"/>
            <a:ext cx="54864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30352" y="517550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810512" y="517550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Incident Rate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47488" y="517550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72784" y="5175504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680960" y="5175504"/>
            <a:ext cx="3986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recurrence_flag in incidents_enriched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11480" y="5687568"/>
            <a:ext cx="11338560" cy="512064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11480" y="5687568"/>
            <a:ext cx="54864" cy="512064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30352" y="572414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810512" y="5724144"/>
            <a:ext cx="31821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 Dashboard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047488" y="572414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weekly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272784" y="5724144"/>
            <a:ext cx="13533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automated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680960" y="5724144"/>
            <a:ext cx="3986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AISQL + Microsoft PowerBI embed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938528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&amp; GUARDRAILS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— The AI Safety Net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Confidence-gated, not rules-based. Engineers stay in control of the critical 10%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3657600" cy="33375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3657600" cy="4572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45920"/>
            <a:ext cx="438912" cy="4389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627632"/>
            <a:ext cx="3310128" cy="438912"/>
          </a:xfrm>
          <a:prstGeom prst="rect">
            <a:avLst/>
          </a:prstGeom>
          <a:solidFill>
            <a:srgbClr val="00C875">
              <a:alpha val="78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1627632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≥0.90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176272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Monitoring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2648" y="27249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" y="3017520"/>
            <a:ext cx="3310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notification + audit log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12648" y="3584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effort: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" y="3886200"/>
            <a:ext cx="3310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clicks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25112" y="1463040"/>
            <a:ext cx="3657600" cy="33375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25112" y="146304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45920"/>
            <a:ext cx="438912" cy="43891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507992" y="1627632"/>
            <a:ext cx="3310128" cy="438912"/>
          </a:xfrm>
          <a:prstGeom prst="rect">
            <a:avLst/>
          </a:prstGeom>
          <a:solidFill>
            <a:srgbClr val="F5A623">
              <a:alpha val="78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07992" y="1627632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0.70–0.89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07992" y="2176272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526280" y="27249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26280" y="3017520"/>
            <a:ext cx="3310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Approve / Modify / Reject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526280" y="3584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effort: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26280" y="3886200"/>
            <a:ext cx="3310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seconds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8238744" y="1463040"/>
            <a:ext cx="3657600" cy="333756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238744" y="1463040"/>
            <a:ext cx="36576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645920"/>
            <a:ext cx="438912" cy="438912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8421624" y="1627632"/>
            <a:ext cx="3310128" cy="438912"/>
          </a:xfrm>
          <a:prstGeom prst="rect">
            <a:avLst/>
          </a:prstGeom>
          <a:solidFill>
            <a:srgbClr val="EF4444">
              <a:alpha val="7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8421624" y="1627632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&lt;0.70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421624" y="2176272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Escalation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8439912" y="27249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8439912" y="3017520"/>
            <a:ext cx="3310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8439912" y="35844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effort: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439912" y="3886200"/>
            <a:ext cx="3310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diagnosis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411480" y="4983480"/>
            <a:ext cx="11338560" cy="475488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502920" y="498348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3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LOOP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411480" y="5532120"/>
            <a:ext cx="20574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411480" y="5532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Resolution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2468880" y="5532120"/>
            <a:ext cx="210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2679192" y="5532120"/>
            <a:ext cx="20574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2679192" y="5532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audit_log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4736592" y="5532120"/>
            <a:ext cx="210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4946904" y="5532120"/>
            <a:ext cx="20574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4946904" y="5532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 Runbook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7004304" y="5532120"/>
            <a:ext cx="210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3"/>
          <p:cNvSpPr/>
          <p:nvPr/>
        </p:nvSpPr>
        <p:spPr>
          <a:xfrm>
            <a:off x="7214616" y="5532120"/>
            <a:ext cx="20574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7214616" y="5532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Fine-Tune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9272016" y="5532120"/>
            <a:ext cx="210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9482328" y="5532120"/>
            <a:ext cx="2057400" cy="65836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9482328" y="553212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HITL Triggers</a:t>
            </a:r>
            <a:endParaRPr lang="en-US" sz="1100" dirty="0"/>
          </a:p>
        </p:txBody>
      </p:sp>
      <p:sp>
        <p:nvSpPr>
          <p:cNvPr id="53" name="Text 48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536192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Guardrails — CTO Must-Have Safeguards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has a mitigation baked into the architecture — not a post-deployment patch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1338560" cy="41148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1463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06440" y="1463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(Built-In)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1874520"/>
            <a:ext cx="1133856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1874520"/>
            <a:ext cx="54864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1920240"/>
            <a:ext cx="2633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Compliance / GDPR Breach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1920240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1170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1920240"/>
            <a:ext cx="5833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scrub via Cortex REPLACE_PII() at ingest · GDPR Art.22 HITL gate at conf&lt;0.70 · Immutable audit_log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624328"/>
            <a:ext cx="11338560" cy="694944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624328"/>
            <a:ext cx="54864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2670048"/>
            <a:ext cx="2633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in Remediation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46120" y="2670048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670048"/>
            <a:ext cx="1170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2670048"/>
            <a:ext cx="5833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gating before any tool call · Sandboxed execution · HITL mandatory for financial/security actions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374136"/>
            <a:ext cx="1133856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374136"/>
            <a:ext cx="54864" cy="6949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3419856"/>
            <a:ext cx="2633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Resistance to AI Ops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46120" y="3419856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419856"/>
            <a:ext cx="1170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3419856"/>
            <a:ext cx="5833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upskill from toil to oversight · Satisfaction target 4.3/5 · Visible HITL control preserved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4123944"/>
            <a:ext cx="11338560" cy="694944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4123944"/>
            <a:ext cx="54864" cy="6949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0352" y="4169664"/>
            <a:ext cx="2633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API / Tool Integration Failure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46120" y="4169664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169664"/>
            <a:ext cx="1170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06440" y="4169664"/>
            <a:ext cx="5833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layer + circuit-breaker pattern in LangGraph · Mock-API staging environment for all tool calls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873752"/>
            <a:ext cx="11338560" cy="694944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11480" y="4873752"/>
            <a:ext cx="54864" cy="6949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0352" y="4919472"/>
            <a:ext cx="2633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Over Time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246120" y="4919472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4919472"/>
            <a:ext cx="1170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06440" y="4919472"/>
            <a:ext cx="5833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Cortex FINETUNE() retraining · Drift detection metric in Snowflake ACCOUNT_USAGE view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5623560"/>
            <a:ext cx="11338560" cy="694944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11480" y="5623560"/>
            <a:ext cx="54864" cy="69494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0352" y="5669280"/>
            <a:ext cx="26334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/ Sovereignty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246120" y="5669280"/>
            <a:ext cx="1234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0" y="5669280"/>
            <a:ext cx="11704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806440" y="5669280"/>
            <a:ext cx="583387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compute in designated region (EU-West-1 or US-East-1) · Zero data egress via Cortex AISQL zero-ETL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837944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Go-Live Plan — CTO Decision Gates Built 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at Month 3 · Go-live Month 6 · V2.0 starts Q3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1719072" cy="47548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30552" y="1664208"/>
            <a:ext cx="182880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1719072" cy="41605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Discovery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1536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inventory · Data classification · Snowflake provisioning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041648"/>
            <a:ext cx="1536192" cy="3657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41148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Gate: Data governance sign-off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13432" y="1481328"/>
            <a:ext cx="1719072" cy="475488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13432" y="14813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032504" y="1664208"/>
            <a:ext cx="182880" cy="109728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13432" y="2057400"/>
            <a:ext cx="1719072" cy="41605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04872" y="210312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Repository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04872" y="2761488"/>
            <a:ext cx="1536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 live · 14K+ KB articles vectorised · Arctic baseline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04872" y="4041648"/>
            <a:ext cx="1536192" cy="3657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04872" y="41148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RAG search operational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15384" y="1481328"/>
            <a:ext cx="1719072" cy="47548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15384" y="14813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34456" y="1664208"/>
            <a:ext cx="182880" cy="10972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15384" y="2057400"/>
            <a:ext cx="1719072" cy="41605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06824" y="210312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Provisioning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06824" y="2761488"/>
            <a:ext cx="1536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DAG deployed · Alan/Ada/Grace wired · F1≥85%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06824" y="4041648"/>
            <a:ext cx="1536192" cy="36576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06824" y="41148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Gate: HITL demo approval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17336" y="1481328"/>
            <a:ext cx="1719072" cy="47548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17336" y="14813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36408" y="1664208"/>
            <a:ext cx="18288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17336" y="2057400"/>
            <a:ext cx="1719072" cy="41605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08776" y="210312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&amp; Anomaly Detection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08776" y="2761488"/>
            <a:ext cx="1536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staging · SLA breach predictor · Confidence tested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08776" y="4041648"/>
            <a:ext cx="1536192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08776" y="41148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Staging sign-off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19288" y="1481328"/>
            <a:ext cx="1719072" cy="475488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19288" y="14813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738360" y="1664208"/>
            <a:ext cx="182880" cy="109728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019288" y="2057400"/>
            <a:ext cx="1719072" cy="41605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110728" y="210312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Tuning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110728" y="2761488"/>
            <a:ext cx="1536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flows live · False positive &lt;5% · GDPR validated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10728" y="4041648"/>
            <a:ext cx="1536192" cy="36576"/>
          </a:xfrm>
          <a:prstGeom prst="rect">
            <a:avLst/>
          </a:prstGeom>
          <a:solidFill>
            <a:srgbClr val="E8720C"/>
          </a:solidFill>
          <a:ln w="12700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110728" y="41148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Gate: Security &amp; compliance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921240" y="1481328"/>
            <a:ext cx="1719072" cy="47548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921240" y="14813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9921240" y="2057400"/>
            <a:ext cx="1719072" cy="416052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012680" y="2103120"/>
            <a:ext cx="1536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C-Suite Handover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0012680" y="2761488"/>
            <a:ext cx="1536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· Risk heatmap · C-suite dashboard live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012680" y="4041648"/>
            <a:ext cx="1536192" cy="36576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012680" y="411480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Break-even confirmed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206240" y="6309360"/>
            <a:ext cx="27432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749040" y="629107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Break-even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2039112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Ninja — Not ServiceNow, Datadog, or Dynatrace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reactive and siloed. Ninja is predictive, agentic, and self-improving.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11338560" cy="411480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23160" y="148132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48132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75320" y="1481328"/>
            <a:ext cx="3401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Advantage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892808"/>
            <a:ext cx="11338560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1892808"/>
            <a:ext cx="54864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1965960"/>
            <a:ext cx="1828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+ Virtual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1965960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ITSM workflows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built-in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1965960"/>
            <a:ext cx="345643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AI · LLM is bolt-on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from monitoring tools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75320" y="1965960"/>
            <a:ext cx="3383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uses ServiceNow 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endpoint, not brain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11338560" cy="1115568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063240"/>
            <a:ext cx="54864" cy="111556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3136392"/>
            <a:ext cx="1828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Watchdog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3136392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anomaly detection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metrics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136392"/>
            <a:ext cx="345643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agentic remediation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NLP ticket resolution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5320" y="3136392"/>
            <a:ext cx="3383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acts on Datadog alerts;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stays as data source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233672"/>
            <a:ext cx="11338560" cy="111556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4233672"/>
            <a:ext cx="54864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4306824"/>
            <a:ext cx="1828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23160" y="4306824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AI for root-cause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9160" y="4306824"/>
            <a:ext cx="345643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multi-agent · No HITL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LLM ecosystem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75320" y="4306824"/>
            <a:ext cx="3383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ingests Dynatrace events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Snowpipe streaming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5404104"/>
            <a:ext cx="11338560" cy="1115568"/>
          </a:xfrm>
          <a:prstGeom prst="rect">
            <a:avLst/>
          </a:prstGeom>
          <a:solidFill>
            <a:srgbClr val="0C1E38"/>
          </a:solidFill>
          <a:ln w="12700">
            <a:solidFill>
              <a:srgbClr val="0C1E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5404104"/>
            <a:ext cx="54864" cy="111556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0352" y="5477256"/>
            <a:ext cx="18288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ITSM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23160" y="5477256"/>
            <a:ext cx="21945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365 native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reasoning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09160" y="5477256"/>
            <a:ext cx="345643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stand-alone agent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domain-specific fine-tuning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75320" y="5477256"/>
            <a:ext cx="33832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uses CoPilot as one LLM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ensemble, not sole engine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6528816"/>
            <a:ext cx="11338560" cy="228600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DIFFERENTIATOR:  Unified predict → decide → act  ·  Multi-LLM ensemble  ·  Snowflake governed DWH  ·  Self-improving 24/7  ·  HITL by design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2340864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BLUEPRINT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v2.0 — 90% to 95–97% Autonomous · Q2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Research-validated upgrades · Blueprint reusable across any enterprise AI use case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3703320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37033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72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61288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LLM Routing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0848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2409.11079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 ppt auto rate · 35% LLM cost reduction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1463040"/>
            <a:ext cx="3703320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25112" y="1463040"/>
            <a:ext cx="3703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07992" y="1572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7492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Collaborative Handoffs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07992" y="20848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2603.29632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07992" y="23591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ppt · Eliminates 60% of re-open incidents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38744" y="1463040"/>
            <a:ext cx="3703320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38744" y="1463040"/>
            <a:ext cx="37033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21624" y="1572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88552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Mining Deviation Detection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21624" y="20848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Anggraeni et al. JITECS 2023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21624" y="23591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 ppt · Closes re-open loop bottleneck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429000"/>
            <a:ext cx="3703320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3429000"/>
            <a:ext cx="3703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3538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161288" y="3538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Agent Guardrails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40507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MDPI Algorithms Vol.18(8), 2025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43251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HITL false escalations · Scope-creep prevention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25112" y="3429000"/>
            <a:ext cx="3703320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25112" y="3429000"/>
            <a:ext cx="37033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07992" y="3538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74920" y="35387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HITL Auto-Escalation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07992" y="40507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Latenode / LangGraph production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07992" y="432511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timeout → auto-escalate · State preserved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5870448"/>
            <a:ext cx="11338560" cy="80467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5870448"/>
            <a:ext cx="11155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V2.0 TARGET:  90%  →  95–97% Autonomous  ·  35% LLM Cost Reduction  ·  Delivery: Q2 2026  ·  Blueprint reusable for any enterprise AI ops use case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2139696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BLUEPRINT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as Enterprise AI Blueprint — Beyond IT Service Desk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LangGraph + Snowflake + HITL pattern applies to any high-volume decision domain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3703320" cy="2240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37033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4592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645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Ops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2267712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purchase orders &lt; threshold · Flag anomalies · Escalate to CFO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4360" y="3246120"/>
            <a:ext cx="3401568" cy="320040"/>
          </a:xfrm>
          <a:prstGeom prst="rect">
            <a:avLst/>
          </a:prstGeom>
          <a:solidFill>
            <a:srgbClr val="00C875">
              <a:alpha val="75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324612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PO cycle time reduction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25112" y="1463040"/>
            <a:ext cx="3703320" cy="2240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25112" y="1463040"/>
            <a:ext cx="3703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645920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02352" y="1645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Onboarding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507992" y="2267712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accounts, licenses, access automatically · HITL for sensitive role changes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07992" y="3246120"/>
            <a:ext cx="3401568" cy="320040"/>
          </a:xfrm>
          <a:prstGeom prst="rect">
            <a:avLst/>
          </a:prstGeom>
          <a:solidFill>
            <a:srgbClr val="00C875">
              <a:alpha val="75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507992" y="324612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readiness for new hires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238744" y="1463040"/>
            <a:ext cx="3703320" cy="2240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238744" y="1463040"/>
            <a:ext cx="37033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645920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15984" y="1645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Ops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421624" y="2267712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threat triage · Confidence-gated isolate/remediate · HITL for critical infra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421624" y="3246120"/>
            <a:ext cx="3401568" cy="320040"/>
          </a:xfrm>
          <a:prstGeom prst="rect">
            <a:avLst/>
          </a:prstGeom>
          <a:solidFill>
            <a:srgbClr val="00C875">
              <a:alpha val="75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8421624" y="324612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&lt;90s threat response vs 40min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11480" y="3840480"/>
            <a:ext cx="3703320" cy="2240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411480" y="3840480"/>
            <a:ext cx="3703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4023360"/>
            <a:ext cx="475488" cy="4754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88720" y="40233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Controls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94360" y="4645152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Auto-reconcile transactions · Flag anomalies for controller review · Audit trail in Snowflake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594360" y="5623560"/>
            <a:ext cx="3401568" cy="320040"/>
          </a:xfrm>
          <a:prstGeom prst="rect">
            <a:avLst/>
          </a:prstGeom>
          <a:solidFill>
            <a:srgbClr val="00C875">
              <a:alpha val="75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594360" y="562356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compliance automation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325112" y="3840480"/>
            <a:ext cx="3703320" cy="2240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4325112" y="3840480"/>
            <a:ext cx="370332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023360"/>
            <a:ext cx="475488" cy="4754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102352" y="40233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FinOps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4507992" y="4645152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right-sizing · Commitment optimisation · Escalate wastage alerts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507992" y="5623560"/>
            <a:ext cx="3401568" cy="320040"/>
          </a:xfrm>
          <a:prstGeom prst="rect">
            <a:avLst/>
          </a:prstGeom>
          <a:solidFill>
            <a:srgbClr val="00C875">
              <a:alpha val="75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4507992" y="562356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20–35% cloud spend reduction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8238744" y="3840480"/>
            <a:ext cx="3703320" cy="2240280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8238744" y="3840480"/>
            <a:ext cx="3703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023360"/>
            <a:ext cx="475488" cy="47548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015984" y="40233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Scale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8421624" y="4645152"/>
            <a:ext cx="3401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Ninja core · Per-tenant Fine-Tune isolation · Central HITL governance panel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8421624" y="5623560"/>
            <a:ext cx="3401568" cy="320040"/>
          </a:xfrm>
          <a:prstGeom prst="rect">
            <a:avLst/>
          </a:prstGeom>
          <a:solidFill>
            <a:srgbClr val="00C875">
              <a:alpha val="75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8421624" y="562356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per-unit AI cost reduction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2039112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— All the Data Is Here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designed to equip a CTO for internal alignment with CFO, CISO, and Engineering leads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11338560" cy="14447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81328"/>
            <a:ext cx="11338560" cy="45720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566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70432" y="1572768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fund $100K for 6 months?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2029968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ROI: 127%  ·  Break-even Month 3  ·  $1.46M over 5 years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39572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estimates based on 29,651 real tickets and documented pain-point costs.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054096"/>
            <a:ext cx="11338560" cy="14447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113385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145536"/>
            <a:ext cx="566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70432" y="3145536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AI risk profile acceptable?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360273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 at &lt;0.90 confidence  ·  GDPR Art.22 compliant  ·  Full audit trail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3968496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action without confidence threshold. Engineers retain override authority.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4626864"/>
            <a:ext cx="11338560" cy="1444752"/>
          </a:xfrm>
          <a:prstGeom prst="rect">
            <a:avLst/>
          </a:prstGeom>
          <a:solidFill>
            <a:srgbClr val="0F2040"/>
          </a:solidFill>
          <a:ln w="12700">
            <a:solidFill>
              <a:srgbClr val="1A4A8C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4626864"/>
            <a:ext cx="11338560" cy="4572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718304"/>
            <a:ext cx="566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70432" y="4718304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scale across the enterprise?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0432" y="5175504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reusable for FinOps, SecOps, HR, Procurement, Multi-tenant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70432" y="554126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LangGraph + Snowflake pattern. Per-domain fine-tune. Same governance model.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6327648"/>
            <a:ext cx="11338560" cy="438912"/>
          </a:xfrm>
          <a:prstGeom prst="rect">
            <a:avLst/>
          </a:prstGeom>
          <a:solidFill>
            <a:srgbClr val="00C875">
              <a:alpha val="82000"/>
            </a:srgbClr>
          </a:solidFill>
          <a:ln w="12700">
            <a:solidFill>
              <a:srgbClr val="00C8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6327648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 Approve Phase 1 (Scope &amp; Discovery) · 4-week POC on real production tickets · Full rollout decision at Month-3 CTO gate review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45720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0"/>
            <a:ext cx="256032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49808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353312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Autonomous.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457200" y="2852928"/>
            <a:ext cx="4572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999232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proves that Agentic AI can replace manual IT operations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90%+ autonomous resolution, 127% Year-1 ROI, break-even Month 3.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950208"/>
            <a:ext cx="1572768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005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" y="451713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94560" y="3950208"/>
            <a:ext cx="1572768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194560" y="4005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-74%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194560" y="451713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31920" y="3950208"/>
            <a:ext cx="1572768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931920" y="4005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931920" y="451713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0" y="3950208"/>
            <a:ext cx="1572768" cy="10058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9280" y="4005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$1.46M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669280" y="4517136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Saving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5870448"/>
            <a:ext cx="12161520" cy="987552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0" y="5870448"/>
            <a:ext cx="12161520" cy="3657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30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LEAD SCIENTISTS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 Kashikar  ·  Sivanand Rao  ·  Bharath PU  ·  Priti Trivedi  ·  Ritam Shome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ramanath.ramnath@gmail.com  ·  sivanandrao@gmail.com  ·  bharath.pu@gmail.com  ·  pritrivedi30@gmail.com  ·  ritamshome@gmail.com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6656832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29,651 real IT tickets · Kaggle Process Mining · UCI ITSM · HuggingFace · No hallucinated data introduced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1247120" y="6510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2161520" cy="138988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228600"/>
            <a:ext cx="1783080" cy="347472"/>
          </a:xfrm>
          <a:prstGeom prst="rect">
            <a:avLst/>
          </a:prstGeom>
          <a:solidFill>
            <a:srgbClr val="00BFFF">
              <a:alpha val="82000"/>
            </a:srgbClr>
          </a:solidFill>
          <a:ln w="1905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PRESENTATION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359152" y="228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 ·  MEET THE TEAM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56692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— Meet the Ninja Scientists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Project Ninja v1.0 MVP to the CTO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46920" y="182880"/>
            <a:ext cx="2148840" cy="1170432"/>
          </a:xfrm>
          <a:prstGeom prst="rect">
            <a:avLst/>
          </a:prstGeom>
          <a:solidFill>
            <a:srgbClr val="00C875">
              <a:alpha val="78000"/>
            </a:srgbClr>
          </a:solidFill>
          <a:ln w="19050">
            <a:solidFill>
              <a:srgbClr val="00C875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46920" y="25603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646920" y="7498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DELIVERED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46920" y="102412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5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Group 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1572768"/>
            <a:ext cx="2148840" cy="4407408"/>
          </a:xfrm>
          <a:prstGeom prst="rect">
            <a:avLst/>
          </a:prstGeom>
          <a:solidFill>
            <a:srgbClr val="0F2040"/>
          </a:solidFill>
          <a:ln w="19050">
            <a:solidFill>
              <a:srgbClr val="00B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1572768"/>
            <a:ext cx="214884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1664208"/>
            <a:ext cx="384048" cy="347472"/>
          </a:xfrm>
          <a:prstGeom prst="rect">
            <a:avLst/>
          </a:prstGeom>
          <a:solidFill>
            <a:srgbClr val="00BFFF">
              <a:alpha val="80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16642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2258568"/>
            <a:ext cx="1170432" cy="1170432"/>
          </a:xfrm>
          <a:prstGeom prst="ellipse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3630168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Kashikar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12064" y="4306824"/>
            <a:ext cx="1892808" cy="475488"/>
          </a:xfrm>
          <a:prstGeom prst="rect">
            <a:avLst/>
          </a:prstGeom>
          <a:solidFill>
            <a:srgbClr val="00BFFF">
              <a:alpha val="78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12064" y="4306824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Project Lead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5488" y="485546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· Delivery · Exec Stakeholder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5385816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ramanath.ramnath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@gmail.com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807208" y="1572768"/>
            <a:ext cx="2148840" cy="4407408"/>
          </a:xfrm>
          <a:prstGeom prst="rect">
            <a:avLst/>
          </a:prstGeom>
          <a:solidFill>
            <a:srgbClr val="0F2040"/>
          </a:solidFill>
          <a:ln w="1905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807208" y="1572768"/>
            <a:ext cx="21488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898648" y="1664208"/>
            <a:ext cx="384048" cy="347472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898648" y="16642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412" y="2258568"/>
            <a:ext cx="1170432" cy="1170432"/>
          </a:xfrm>
          <a:prstGeom prst="ellipse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880360" y="3630168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Sivanand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2935224" y="4306824"/>
            <a:ext cx="1892808" cy="475488"/>
          </a:xfrm>
          <a:prstGeom prst="rect">
            <a:avLst/>
          </a:prstGeom>
          <a:solidFill>
            <a:srgbClr val="F5A623">
              <a:alpha val="78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2935224" y="4306824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2898648" y="485546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Prompt Engineering · LLM Ops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2880360" y="5385816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sivanandrao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@gmail.com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5230368" y="1572768"/>
            <a:ext cx="2148840" cy="4407408"/>
          </a:xfrm>
          <a:prstGeom prst="rect">
            <a:avLst/>
          </a:prstGeom>
          <a:solidFill>
            <a:srgbClr val="0F2040"/>
          </a:solidFill>
          <a:ln w="19050">
            <a:solidFill>
              <a:srgbClr val="00B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5230368" y="1572768"/>
            <a:ext cx="214884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5321808" y="1664208"/>
            <a:ext cx="384048" cy="347472"/>
          </a:xfrm>
          <a:prstGeom prst="rect">
            <a:avLst/>
          </a:prstGeom>
          <a:solidFill>
            <a:srgbClr val="00BFFF">
              <a:alpha val="80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5321808" y="16642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572" y="2258568"/>
            <a:ext cx="1170432" cy="1170432"/>
          </a:xfrm>
          <a:prstGeom prst="ellipse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303520" y="3630168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PU</a:t>
            </a:r>
            <a:endParaRPr lang="en-US" sz="1350" dirty="0"/>
          </a:p>
        </p:txBody>
      </p:sp>
      <p:sp>
        <p:nvSpPr>
          <p:cNvPr id="42" name="Shape 37"/>
          <p:cNvSpPr/>
          <p:nvPr/>
        </p:nvSpPr>
        <p:spPr>
          <a:xfrm>
            <a:off x="5358384" y="4306824"/>
            <a:ext cx="1892808" cy="475488"/>
          </a:xfrm>
          <a:prstGeom prst="rect">
            <a:avLst/>
          </a:prstGeom>
          <a:solidFill>
            <a:srgbClr val="00BFFF">
              <a:alpha val="78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5358384" y="4306824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5321808" y="485546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Feature Eng · Model Ops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5303520" y="5385816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bharath.pu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@gmail.com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7653528" y="1572768"/>
            <a:ext cx="2148840" cy="4407408"/>
          </a:xfrm>
          <a:prstGeom prst="rect">
            <a:avLst/>
          </a:prstGeom>
          <a:solidFill>
            <a:srgbClr val="0F2040"/>
          </a:solidFill>
          <a:ln w="1905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7653528" y="1572768"/>
            <a:ext cx="21488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7744968" y="1664208"/>
            <a:ext cx="384048" cy="347472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7744968" y="16642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732" y="2258568"/>
            <a:ext cx="1170432" cy="1170432"/>
          </a:xfrm>
          <a:prstGeom prst="ellipse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7726680" y="3630168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Trivedi</a:t>
            </a:r>
            <a:endParaRPr lang="en-US" sz="1350" dirty="0"/>
          </a:p>
        </p:txBody>
      </p:sp>
      <p:sp>
        <p:nvSpPr>
          <p:cNvPr id="53" name="Shape 47"/>
          <p:cNvSpPr/>
          <p:nvPr/>
        </p:nvSpPr>
        <p:spPr>
          <a:xfrm>
            <a:off x="7781544" y="4306824"/>
            <a:ext cx="1892808" cy="475488"/>
          </a:xfrm>
          <a:prstGeom prst="rect">
            <a:avLst/>
          </a:prstGeom>
          <a:solidFill>
            <a:srgbClr val="F5A623">
              <a:alpha val="78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7781544" y="4306824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950" dirty="0"/>
          </a:p>
        </p:txBody>
      </p:sp>
      <p:sp>
        <p:nvSpPr>
          <p:cNvPr id="55" name="Text 49"/>
          <p:cNvSpPr/>
          <p:nvPr/>
        </p:nvSpPr>
        <p:spPr>
          <a:xfrm>
            <a:off x="7744968" y="485546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 · DWH Design · RAG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7726680" y="5385816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pritrivedi30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@gmail.com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10076688" y="1572768"/>
            <a:ext cx="2148840" cy="4407408"/>
          </a:xfrm>
          <a:prstGeom prst="rect">
            <a:avLst/>
          </a:prstGeom>
          <a:solidFill>
            <a:srgbClr val="0F2040"/>
          </a:solidFill>
          <a:ln w="19050">
            <a:solidFill>
              <a:srgbClr val="00B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2"/>
          <p:cNvSpPr/>
          <p:nvPr/>
        </p:nvSpPr>
        <p:spPr>
          <a:xfrm>
            <a:off x="10076688" y="1572768"/>
            <a:ext cx="2148840" cy="54864"/>
          </a:xfrm>
          <a:prstGeom prst="rect">
            <a:avLst/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3"/>
          <p:cNvSpPr/>
          <p:nvPr/>
        </p:nvSpPr>
        <p:spPr>
          <a:xfrm>
            <a:off x="10168128" y="1664208"/>
            <a:ext cx="384048" cy="347472"/>
          </a:xfrm>
          <a:prstGeom prst="rect">
            <a:avLst/>
          </a:prstGeom>
          <a:solidFill>
            <a:srgbClr val="00BFFF">
              <a:alpha val="80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4"/>
          <p:cNvSpPr/>
          <p:nvPr/>
        </p:nvSpPr>
        <p:spPr>
          <a:xfrm>
            <a:off x="10168128" y="16642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892" y="2258568"/>
            <a:ext cx="1170432" cy="1170432"/>
          </a:xfrm>
          <a:prstGeom prst="ellipse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10149840" y="3630168"/>
            <a:ext cx="200253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Shome</a:t>
            </a:r>
            <a:endParaRPr lang="en-US" sz="1350" dirty="0"/>
          </a:p>
        </p:txBody>
      </p:sp>
      <p:sp>
        <p:nvSpPr>
          <p:cNvPr id="64" name="Shape 57"/>
          <p:cNvSpPr/>
          <p:nvPr/>
        </p:nvSpPr>
        <p:spPr>
          <a:xfrm>
            <a:off x="10204704" y="4306824"/>
            <a:ext cx="1892808" cy="475488"/>
          </a:xfrm>
          <a:prstGeom prst="rect">
            <a:avLst/>
          </a:prstGeom>
          <a:solidFill>
            <a:srgbClr val="00BFFF">
              <a:alpha val="78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/>
          <p:nvPr/>
        </p:nvSpPr>
        <p:spPr>
          <a:xfrm>
            <a:off x="10204704" y="4306824"/>
            <a:ext cx="1892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Cyber Security</a:t>
            </a:r>
            <a:endParaRPr lang="en-US" sz="950" dirty="0"/>
          </a:p>
        </p:txBody>
      </p:sp>
      <p:sp>
        <p:nvSpPr>
          <p:cNvPr id="66" name="Text 59"/>
          <p:cNvSpPr/>
          <p:nvPr/>
        </p:nvSpPr>
        <p:spPr>
          <a:xfrm>
            <a:off x="10168128" y="4855464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Audit · Risk Framework</a:t>
            </a:r>
            <a:endParaRPr lang="en-US" sz="900" dirty="0"/>
          </a:p>
        </p:txBody>
      </p:sp>
      <p:sp>
        <p:nvSpPr>
          <p:cNvPr id="67" name="Text 60"/>
          <p:cNvSpPr/>
          <p:nvPr/>
        </p:nvSpPr>
        <p:spPr>
          <a:xfrm>
            <a:off x="10149840" y="5385816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ritamshome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@gmail.com</a:t>
            </a:r>
            <a:endParaRPr lang="en-US" sz="850" dirty="0"/>
          </a:p>
        </p:txBody>
      </p:sp>
      <p:sp>
        <p:nvSpPr>
          <p:cNvPr id="68" name="Shape 61"/>
          <p:cNvSpPr/>
          <p:nvPr/>
        </p:nvSpPr>
        <p:spPr>
          <a:xfrm>
            <a:off x="0" y="6291072"/>
            <a:ext cx="12161520" cy="566928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2"/>
          <p:cNvSpPr/>
          <p:nvPr/>
        </p:nvSpPr>
        <p:spPr>
          <a:xfrm>
            <a:off x="0" y="6291072"/>
            <a:ext cx="121615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3"/>
          <p:cNvSpPr/>
          <p:nvPr/>
        </p:nvSpPr>
        <p:spPr>
          <a:xfrm>
            <a:off x="411480" y="634593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v1.0 MVP  ·  Capstone Data Science  ·  All metrics sourced from 29,651 real IT tickets  ·  No hallucinated data</a:t>
            </a:r>
            <a:endParaRPr lang="en-US" sz="950" dirty="0"/>
          </a:p>
        </p:txBody>
      </p:sp>
      <p:sp>
        <p:nvSpPr>
          <p:cNvPr id="71" name="Shape 64"/>
          <p:cNvSpPr/>
          <p:nvPr/>
        </p:nvSpPr>
        <p:spPr>
          <a:xfrm>
            <a:off x="8595360" y="6327648"/>
            <a:ext cx="3154680" cy="457200"/>
          </a:xfrm>
          <a:prstGeom prst="rect">
            <a:avLst/>
          </a:prstGeom>
          <a:solidFill>
            <a:srgbClr val="00BFFF">
              <a:alpha val="82000"/>
            </a:srgbClr>
          </a:solidFill>
          <a:ln w="12700">
            <a:solidFill>
              <a:srgbClr val="00B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5"/>
          <p:cNvSpPr/>
          <p:nvPr/>
        </p:nvSpPr>
        <p:spPr>
          <a:xfrm>
            <a:off x="8595360" y="63276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CTO Sign-Off →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2718</Words>
  <Application>Microsoft Macintosh PowerPoint</Application>
  <PresentationFormat>Widescreen</PresentationFormat>
  <Paragraphs>538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 — CTO Executive Pitch Deck</dc:title>
  <dc:subject>PptxGenJS Presentation</dc:subject>
  <dc:creator>Group 5 — Project Ninja</dc:creator>
  <cp:lastModifiedBy>Ritam Shome</cp:lastModifiedBy>
  <cp:revision>8</cp:revision>
  <dcterms:created xsi:type="dcterms:W3CDTF">2026-05-23T03:57:29Z</dcterms:created>
  <dcterms:modified xsi:type="dcterms:W3CDTF">2026-05-23T04:20:43Z</dcterms:modified>
</cp:coreProperties>
</file>