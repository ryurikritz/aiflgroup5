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Complexity</c:v>
                </c:pt>
              </c:strCache>
            </c:strRef>
          </c:tx>
          <c:spPr>
            <a:solidFill>
              <a:srgbClr val="00BF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F8-2140-8EC9-0B75B6377DA6}"/>
              </c:ext>
            </c:extLst>
          </c:dPt>
          <c:dPt>
            <c:idx val="1"/>
            <c:invertIfNegative val="0"/>
            <c:bubble3D val="0"/>
            <c:spPr>
              <a:solidFill>
                <a:srgbClr val="FFB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F8-2140-8EC9-0B75B6377DA6}"/>
              </c:ext>
            </c:extLst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F8-2140-8EC9-0B75B6377DA6}"/>
              </c:ext>
            </c:extLst>
          </c:dPt>
          <c:dPt>
            <c:idx val="3"/>
            <c:invertIfNegative val="0"/>
            <c:bubble3D val="0"/>
            <c:spPr>
              <a:solidFill>
                <a:srgbClr val="00C8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DF8-2140-8EC9-0B75B6377D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Simple Classify</c:v>
                </c:pt>
                <c:pt idx="1">
                  <c:v>Standard Triage</c:v>
                </c:pt>
                <c:pt idx="2">
                  <c:v>Root-Cause Analysis</c:v>
                </c:pt>
                <c:pt idx="3">
                  <c:v>Long-Log Analysis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F8-2140-8EC9-0B75B6377D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Priority Distribution (n=29,651)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CC333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9C-964B-9CD9-DEBCE4D7146B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9C-964B-9CD9-DEBCE4D7146B}"/>
              </c:ext>
            </c:extLst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9C-964B-9CD9-DEBCE4D7146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(11,512)</c:v>
                </c:pt>
                <c:pt idx="1">
                  <c:v>Medium (12,126)</c:v>
                </c:pt>
                <c:pt idx="2">
                  <c:v>Low (6,013)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11512</c:v>
                </c:pt>
                <c:pt idx="1">
                  <c:v>12126</c:v>
                </c:pt>
                <c:pt idx="2">
                  <c:v>6013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9C-964B-9CD9-DEBCE4D714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Ticket Volume by Department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1A4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Tech Support</c:v>
                </c:pt>
                <c:pt idx="1">
                  <c:v>Product Supp.</c:v>
                </c:pt>
                <c:pt idx="2">
                  <c:v>Customer Svc</c:v>
                </c:pt>
                <c:pt idx="3">
                  <c:v>IT Support</c:v>
                </c:pt>
                <c:pt idx="4">
                  <c:v>Billing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8617</c:v>
                </c:pt>
                <c:pt idx="1">
                  <c:v>5539</c:v>
                </c:pt>
                <c:pt idx="2">
                  <c:v>4482</c:v>
                </c:pt>
                <c:pt idx="3">
                  <c:v>3500</c:v>
                </c:pt>
                <c:pt idx="4">
                  <c:v>3017</c:v>
                </c:pt>
                <c:pt idx="5">
                  <c:v>4496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60-8B44-82FB-6D197D85E9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Annual $ Savings Breakdown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solidFill>
              <a:srgbClr val="1A4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07-C24D-87E6-1774F02C5DE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A07-C24D-87E6-1774F02C5DE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A07-C24D-87E6-1774F02C5DE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A07-C24D-87E6-1774F02C5DE8}"/>
              </c:ext>
            </c:extLst>
          </c:dPt>
          <c:dPt>
            <c:idx val="4"/>
            <c:invertIfNegative val="0"/>
            <c:bubble3D val="0"/>
            <c:spPr>
              <a:solidFill>
                <a:srgbClr val="00C8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A07-C24D-87E6-1774F02C5D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Engineering
Waste Saved</c:v>
                </c:pt>
                <c:pt idx="1">
                  <c:v>SLA Penalty
Avoided</c:v>
                </c:pt>
                <c:pt idx="2">
                  <c:v>Rework
Eliminated</c:v>
                </c:pt>
                <c:pt idx="3">
                  <c:v>FTE Cost
Reduction</c:v>
                </c:pt>
                <c:pt idx="4">
                  <c:v>Total
Saving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</c:v>
                </c:pt>
                <c:pt idx="1">
                  <c:v>210</c:v>
                </c:pt>
                <c:pt idx="2">
                  <c:v>160</c:v>
                </c:pt>
                <c:pt idx="3">
                  <c:v>712</c:v>
                </c:pt>
                <c:pt idx="4">
                  <c:v>1462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A07-C24D-87E6-1774F02C5D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5-Year Operations Cost Trajectory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without AI ($M)</c:v>
                </c:pt>
              </c:strCache>
            </c:strRef>
          </c:tx>
          <c:spPr>
            <a:ln w="38100" cap="flat">
              <a:solidFill>
                <a:srgbClr val="FF47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4757"/>
              </a:solidFill>
              <a:ln w="9525" cap="flat">
                <a:solidFill>
                  <a:srgbClr val="FF475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</c:v>
                </c:pt>
                <c:pt idx="1">
                  <c:v>0.8</c:v>
                </c:pt>
                <c:pt idx="2">
                  <c:v>0.86</c:v>
                </c:pt>
                <c:pt idx="3">
                  <c:v>0.92</c:v>
                </c:pt>
                <c:pt idx="4">
                  <c:v>0.98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1F5-8B44-BB50-785D45F87C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with Ninja ($M)</c:v>
                </c:pt>
              </c:strCache>
            </c:strRef>
          </c:tx>
          <c:spPr>
            <a:ln w="38100" cap="flat">
              <a:solidFill>
                <a:srgbClr val="00C8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75"/>
              </a:solidFill>
              <a:ln w="9525" cap="flat">
                <a:solidFill>
                  <a:srgbClr val="00C87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1F5-8B44-BB50-785D45F87C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FTE Headcount vs. AI Resolution Rate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FTEs Required</c:v>
                </c:pt>
              </c:strCache>
            </c:strRef>
          </c:tx>
          <c:spPr>
            <a:solidFill>
              <a:srgbClr val="1A4A8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EC-4D49-A755-D2129F3C11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Resolution Rate %</c:v>
                </c:pt>
              </c:strCache>
            </c:strRef>
          </c:tx>
          <c:spPr>
            <a:solidFill>
              <a:srgbClr val="00C87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90</c:v>
                </c:pt>
                <c:pt idx="2">
                  <c:v>93</c:v>
                </c:pt>
                <c:pt idx="3">
                  <c:v>95</c:v>
                </c:pt>
                <c:pt idx="4">
                  <c:v>96</c:v>
                </c:pt>
                <c:pt idx="5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EC-4D49-A755-D2129F3C11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Cumulative Operational Savings ($K)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Saving ($K)</c:v>
                </c:pt>
              </c:strCache>
            </c:strRef>
          </c:tx>
          <c:spPr>
            <a:ln w="38100" cap="flat">
              <a:solidFill>
                <a:srgbClr val="00C8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75"/>
              </a:solidFill>
              <a:ln w="9525" cap="flat">
                <a:solidFill>
                  <a:srgbClr val="00C87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C87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650</c:v>
                </c:pt>
                <c:pt idx="1">
                  <c:v>1562</c:v>
                </c:pt>
                <c:pt idx="2">
                  <c:v>2474</c:v>
                </c:pt>
                <c:pt idx="3">
                  <c:v>3386</c:v>
                </c:pt>
                <c:pt idx="4">
                  <c:v>4298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FF-D34C-BB97-4E9ADA3F4F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Ninja</c:v>
                </c:pt>
              </c:strCache>
            </c:strRef>
          </c:tx>
          <c:spPr>
            <a:solidFill>
              <a:srgbClr val="FF47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MTTR
(hrs)</c:v>
                </c:pt>
                <c:pt idx="1">
                  <c:v>On-Call
Alerts</c:v>
                </c:pt>
                <c:pt idx="2">
                  <c:v>SLA Breach
(%)</c:v>
                </c:pt>
                <c:pt idx="3">
                  <c:v>Satisfaction
(/5)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4.7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10-E54B-95D8-F7858DEA6D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Ninja</c:v>
                </c:pt>
              </c:strCache>
            </c:strRef>
          </c:tx>
          <c:spPr>
            <a:solidFill>
              <a:srgbClr val="00C8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MTTR
(hrs)</c:v>
                </c:pt>
                <c:pt idx="1">
                  <c:v>On-Call
Alerts</c:v>
                </c:pt>
                <c:pt idx="2">
                  <c:v>SLA Breach
(%)</c:v>
                </c:pt>
                <c:pt idx="3">
                  <c:v>Satisfaction
(/5)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1.1000000000000001</c:v>
                </c:pt>
                <c:pt idx="1">
                  <c:v>0.3</c:v>
                </c:pt>
                <c:pt idx="2">
                  <c:v>0.2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10-E54B-95D8-F7858DEA6D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93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1A4A8A">
              <a:alpha val="40000"/>
            </a:srgbClr>
          </a:solidFill>
          <a:ln w="12700">
            <a:solidFill>
              <a:srgbClr val="1A4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4114800" cy="6858000"/>
          </a:xfrm>
          <a:prstGeom prst="rect">
            <a:avLst/>
          </a:prstGeom>
          <a:solidFill>
            <a:srgbClr val="00BFFF">
              <a:alpha val="20000"/>
            </a:srgbClr>
          </a:solidFill>
          <a:ln w="12700">
            <a:solidFill>
              <a:srgbClr val="00B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658368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31520"/>
            <a:ext cx="310896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6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1508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084832"/>
            <a:ext cx="3200400" cy="3657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21284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Traditional Service Desks into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 Agentic AI Operations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2148840" cy="438912"/>
          </a:xfrm>
          <a:prstGeom prst="rect">
            <a:avLst/>
          </a:prstGeom>
          <a:solidFill>
            <a:srgbClr val="00C875">
              <a:alpha val="80000"/>
            </a:srgbClr>
          </a:solidFill>
          <a:ln w="12700">
            <a:solidFill>
              <a:srgbClr val="00C875">
                <a:alpha val="8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Auto-Resolution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61488" y="3200400"/>
            <a:ext cx="2148840" cy="438912"/>
          </a:xfrm>
          <a:prstGeom prst="rect">
            <a:avLst/>
          </a:prstGeom>
          <a:solidFill>
            <a:srgbClr val="00BFFF">
              <a:alpha val="80000"/>
            </a:srgbClr>
          </a:solidFill>
          <a:ln w="12700">
            <a:solidFill>
              <a:srgbClr val="00BFFF">
                <a:alpha val="8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61488" y="32004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MTTR Reduction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65776" y="3200400"/>
            <a:ext cx="2148840" cy="438912"/>
          </a:xfrm>
          <a:prstGeom prst="rect">
            <a:avLst/>
          </a:prstGeom>
          <a:solidFill>
            <a:srgbClr val="FFB700">
              <a:alpha val="80000"/>
            </a:srgbClr>
          </a:solidFill>
          <a:ln w="12700">
            <a:solidFill>
              <a:srgbClr val="FFB700">
                <a:alpha val="8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65776" y="32004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$750K+ Annual Saving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5897880"/>
            <a:ext cx="1216152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6016752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Capstone Data Science Project  |  Leaders: ramanath.ramnath@gmail.com  ·  sivanandrao@gmail.com  ·  bharath.pu@gmail.com  ·  pritrivedi30@gmail.com  ·  ritamshome@gmail.com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pic>
        <p:nvPicPr>
          <p:cNvPr id="21" name="Picture 20" descr="profil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876" y="5888736"/>
            <a:ext cx="457200" cy="457200"/>
          </a:xfrm>
          <a:prstGeom prst="rect">
            <a:avLst/>
          </a:prstGeom>
        </p:spPr>
      </p:pic>
      <p:pic>
        <p:nvPicPr>
          <p:cNvPr id="22" name="Picture 21" descr="profil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648" y="5870448"/>
            <a:ext cx="457200" cy="457200"/>
          </a:xfrm>
          <a:prstGeom prst="rect">
            <a:avLst/>
          </a:prstGeom>
        </p:spPr>
      </p:pic>
      <p:pic>
        <p:nvPicPr>
          <p:cNvPr id="23" name="Picture 22" descr="profile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184" y="5870448"/>
            <a:ext cx="457200" cy="457200"/>
          </a:xfrm>
          <a:prstGeom prst="rect">
            <a:avLst/>
          </a:prstGeom>
        </p:spPr>
      </p:pic>
      <p:pic>
        <p:nvPicPr>
          <p:cNvPr id="24" name="Picture 23" descr="profil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9540" y="5860288"/>
            <a:ext cx="457200" cy="457200"/>
          </a:xfrm>
          <a:prstGeom prst="rect">
            <a:avLst/>
          </a:prstGeom>
        </p:spPr>
      </p:pic>
      <p:pic>
        <p:nvPicPr>
          <p:cNvPr id="25" name="Picture 24" descr="profile_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380" y="5860288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Burning Platform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Post-acquisition: 140,000 users · 6 siloed monitoring tools · Manual Tier-1/2 support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3657600" cy="2606040"/>
          </a:xfrm>
          <a:prstGeom prst="rect">
            <a:avLst/>
          </a:prstGeom>
          <a:solidFill>
            <a:srgbClr val="1C0A0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6576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5564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2286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alerts ignored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3291840" cy="384048"/>
          </a:xfrm>
          <a:prstGeom prst="rect">
            <a:avLst/>
          </a:prstGeom>
          <a:solidFill>
            <a:srgbClr val="FF4757">
              <a:alpha val="75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$380K/yr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79392" y="1554480"/>
            <a:ext cx="3657600" cy="2606040"/>
          </a:xfrm>
          <a:prstGeom prst="rect">
            <a:avLst/>
          </a:prstGeom>
          <a:solidFill>
            <a:srgbClr val="1C0A0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79392" y="1554480"/>
            <a:ext cx="36576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75564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92624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L1/L2 Triage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462272" y="2286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SLA breach rate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62272" y="3063240"/>
            <a:ext cx="3291840" cy="384048"/>
          </a:xfrm>
          <a:prstGeom prst="rect">
            <a:avLst/>
          </a:prstGeom>
          <a:solidFill>
            <a:srgbClr val="FF4757">
              <a:alpha val="75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462272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$210K/yr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193024" y="1554480"/>
            <a:ext cx="3657600" cy="2606040"/>
          </a:xfrm>
          <a:prstGeom prst="rect">
            <a:avLst/>
          </a:prstGeom>
          <a:solidFill>
            <a:srgbClr val="1C0A0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193024" y="1554480"/>
            <a:ext cx="36576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55648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06256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375904" y="2286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incident recurrence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375904" y="3063240"/>
            <a:ext cx="3291840" cy="384048"/>
          </a:xfrm>
          <a:prstGeom prst="rect">
            <a:avLst/>
          </a:prstGeom>
          <a:solidFill>
            <a:srgbClr val="FF4757">
              <a:alpha val="75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8375904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$160K/yr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65760" y="4315968"/>
            <a:ext cx="11430000" cy="621792"/>
          </a:xfrm>
          <a:prstGeom prst="rect">
            <a:avLst/>
          </a:prstGeom>
          <a:solidFill>
            <a:srgbClr val="FFB700">
              <a:alpha val="88000"/>
            </a:srgbClr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65760" y="4315968"/>
            <a:ext cx="1143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QUANTIFIED WASTE:  $750,000+ per year  |  MTTR: 4.2 hours average  |  SLA Compliance: only 72%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914400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914400" y="5577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749040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4.2h</a:t>
            </a:r>
            <a:endParaRPr lang="en-US" sz="3200" dirty="0"/>
          </a:p>
        </p:txBody>
      </p:sp>
      <p:sp>
        <p:nvSpPr>
          <p:cNvPr id="34" name="Text 29"/>
          <p:cNvSpPr/>
          <p:nvPr/>
        </p:nvSpPr>
        <p:spPr>
          <a:xfrm>
            <a:off x="3749040" y="5577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583680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200" dirty="0"/>
          </a:p>
        </p:txBody>
      </p:sp>
      <p:sp>
        <p:nvSpPr>
          <p:cNvPr id="36" name="Text 31"/>
          <p:cNvSpPr/>
          <p:nvPr/>
        </p:nvSpPr>
        <p:spPr>
          <a:xfrm>
            <a:off x="6583680" y="5577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418320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200" dirty="0"/>
          </a:p>
        </p:txBody>
      </p:sp>
      <p:sp>
        <p:nvSpPr>
          <p:cNvPr id="38" name="Text 33"/>
          <p:cNvSpPr/>
          <p:nvPr/>
        </p:nvSpPr>
        <p:spPr>
          <a:xfrm>
            <a:off x="9418320" y="5577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2290572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Ninja Command Center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AI agents · LangGraph orchestration · Snowflake Cortex AI knowledge 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1481328"/>
            <a:ext cx="4572000" cy="868680"/>
          </a:xfrm>
          <a:prstGeom prst="rect">
            <a:avLst/>
          </a:prstGeom>
          <a:solidFill>
            <a:srgbClr val="1A4A8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7276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NODE  ·  LangGraph + GPT-4o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94760" y="2340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· Confidence Grading · HITL Gateway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34640" y="2670048"/>
            <a:ext cx="0" cy="502920"/>
          </a:xfrm>
          <a:prstGeom prst="line">
            <a:avLst/>
          </a:prstGeom>
          <a:noFill/>
          <a:ln w="25400">
            <a:solidFill>
              <a:srgbClr val="00BFFF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89320" y="2670048"/>
            <a:ext cx="0" cy="502920"/>
          </a:xfrm>
          <a:prstGeom prst="line">
            <a:avLst/>
          </a:prstGeom>
          <a:noFill/>
          <a:ln w="25400">
            <a:solidFill>
              <a:srgbClr val="00BFFF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144000" y="2670048"/>
            <a:ext cx="0" cy="502920"/>
          </a:xfrm>
          <a:prstGeom prst="line">
            <a:avLst/>
          </a:prstGeom>
          <a:noFill/>
          <a:ln w="25400">
            <a:solidFill>
              <a:srgbClr val="00BFFF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" y="3200400"/>
            <a:ext cx="3657600" cy="290779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0040" y="3200400"/>
            <a:ext cx="36576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33756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24712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2471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Azure/AWS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2920" y="3950208"/>
            <a:ext cx="3291840" cy="256032"/>
          </a:xfrm>
          <a:prstGeom prst="rect">
            <a:avLst/>
          </a:prstGeom>
          <a:solidFill>
            <a:srgbClr val="00BFFF">
              <a:alpha val="78000"/>
            </a:srgbClr>
          </a:solidFill>
          <a:ln w="12700">
            <a:solidFill>
              <a:srgbClr val="00BFFF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2920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GPT-4o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21208" y="4315968"/>
            <a:ext cx="32552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VM auto-scaling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remediation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CPU/memory alerts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DevOps CI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51960" y="3200400"/>
            <a:ext cx="3657600" cy="290779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251960" y="3200400"/>
            <a:ext cx="365760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33756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056632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ADA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0566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NetScaler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434840" y="3950208"/>
            <a:ext cx="3291840" cy="256032"/>
          </a:xfrm>
          <a:prstGeom prst="rect">
            <a:avLst/>
          </a:prstGeom>
          <a:solidFill>
            <a:srgbClr val="FFB700">
              <a:alpha val="78000"/>
            </a:srgbClr>
          </a:solidFill>
          <a:ln w="12700">
            <a:solidFill>
              <a:srgbClr val="FFB700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434840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Claude 3.5 Sonnet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453128" y="4315968"/>
            <a:ext cx="32552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SSL cert renewal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balancer tuning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Datadog integration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NetScaler REST API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183880" y="3200400"/>
            <a:ext cx="3657600" cy="290779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8183880" y="3200400"/>
            <a:ext cx="365760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337560"/>
            <a:ext cx="502920" cy="5029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988552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GRACE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98855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&amp; Endpoints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366760" y="3950208"/>
            <a:ext cx="3291840" cy="256032"/>
          </a:xfrm>
          <a:prstGeom prst="rect">
            <a:avLst/>
          </a:prstGeom>
          <a:solidFill>
            <a:srgbClr val="00C875">
              <a:alpha val="78000"/>
            </a:srgbClr>
          </a:solidFill>
          <a:ln w="12700">
            <a:solidFill>
              <a:srgbClr val="00C875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8366760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MS CoPilot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8385048" y="4315968"/>
            <a:ext cx="32552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Citrix session repair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Intune device mgmt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VDI health checks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 policies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138428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1384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Agentic Flow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73736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1737360" cy="6400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1554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· Citrix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Stream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2423160"/>
            <a:ext cx="22860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1188720"/>
            <a:ext cx="173736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0" y="1188720"/>
            <a:ext cx="1737360" cy="64008"/>
          </a:xfrm>
          <a:prstGeom prst="rect">
            <a:avLst/>
          </a:prstGeom>
          <a:solidFill>
            <a:srgbClr val="00808C"/>
          </a:solidFill>
          <a:ln w="12700">
            <a:solidFill>
              <a:srgbClr val="008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8600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2121408"/>
            <a:ext cx="1554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AISQL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classify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2423160"/>
            <a:ext cx="22860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51960" y="1188720"/>
            <a:ext cx="173736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51960" y="1188720"/>
            <a:ext cx="1737360" cy="6400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5196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2121408"/>
            <a:ext cx="1554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runbooks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≥ 0.82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423160"/>
            <a:ext cx="22860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173736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1188720"/>
            <a:ext cx="1737360" cy="64008"/>
          </a:xfrm>
          <a:prstGeom prst="rect">
            <a:avLst/>
          </a:prstGeom>
          <a:solidFill>
            <a:srgbClr val="00808C"/>
          </a:solidFill>
          <a:ln w="12700">
            <a:solidFill>
              <a:srgbClr val="008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121408"/>
            <a:ext cx="1554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2423160"/>
            <a:ext cx="22860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83880" y="1188720"/>
            <a:ext cx="173736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83880" y="1188720"/>
            <a:ext cx="173736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83880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18388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75320" y="2121408"/>
            <a:ext cx="1554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HITL gate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21240" y="2423160"/>
            <a:ext cx="228600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149840" y="1188720"/>
            <a:ext cx="173736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149840" y="1188720"/>
            <a:ext cx="173736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149840" y="12984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14984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241280" y="2121408"/>
            <a:ext cx="1554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DW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retraining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858768"/>
            <a:ext cx="11521440" cy="36576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" y="393192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 LOGIC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343400"/>
            <a:ext cx="3474720" cy="173736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" y="4343400"/>
            <a:ext cx="347472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4434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57200" y="4846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516636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/ Ada / Grace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immediately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77640" y="4343400"/>
            <a:ext cx="4206240" cy="173736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977640" y="4343400"/>
            <a:ext cx="420624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77640" y="4434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– 0.89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114800" y="4846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APPROVAL GATE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14800" y="516636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approves in 45s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66760" y="4343400"/>
            <a:ext cx="3474720" cy="173736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366760" y="4343400"/>
            <a:ext cx="347472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366760" y="4434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0.70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503920" y="4846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ESCALATION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03920" y="516636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alert +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context bundle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10512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 Strategy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used universally — difficulty-aware cost-quality routing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743200" cy="26060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27432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733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2377440" cy="54864"/>
          </a:xfrm>
          <a:prstGeom prst="rect">
            <a:avLst/>
          </a:prstGeom>
          <a:solidFill>
            <a:srgbClr val="00BFFF">
              <a:alpha val="40000"/>
            </a:srgbClr>
          </a:solidFill>
          <a:ln w="12700">
            <a:solidFill>
              <a:srgbClr val="00B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96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Ticket Routing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46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Zero-latency inside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— no egress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536192"/>
            <a:ext cx="2743200" cy="26060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1536192"/>
            <a:ext cx="274320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6733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429000" y="2404872"/>
            <a:ext cx="2377440" cy="54864"/>
          </a:xfrm>
          <a:prstGeom prst="rect">
            <a:avLst/>
          </a:prstGeom>
          <a:solidFill>
            <a:srgbClr val="FFB700">
              <a:alpha val="40000"/>
            </a:srgbClr>
          </a:solidFill>
          <a:ln w="12700">
            <a:solidFill>
              <a:srgbClr val="FFB7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29000" y="2496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0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Generation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346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chain-of-thought;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compliant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536192"/>
            <a:ext cx="2743200" cy="26060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1536192"/>
            <a:ext cx="27432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16733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309360" y="2404872"/>
            <a:ext cx="2377440" cy="54864"/>
          </a:xfrm>
          <a:prstGeom prst="rect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496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3640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Log Analysis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&gt;128K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346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364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window;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log parsing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06840" y="1536192"/>
            <a:ext cx="2743200" cy="26060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06840" y="1536192"/>
            <a:ext cx="274320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006840" y="16733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+M365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9189720" y="2404872"/>
            <a:ext cx="2377440" cy="54864"/>
          </a:xfrm>
          <a:prstGeom prst="rect">
            <a:avLst/>
          </a:prstGeom>
          <a:solidFill>
            <a:srgbClr val="00C875">
              <a:alpha val="40000"/>
            </a:srgbClr>
          </a:solidFill>
          <a:ln w="12700">
            <a:solidFill>
              <a:srgbClr val="00C8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89720" y="2496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44000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Reports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Summaries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89720" y="3346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4400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Office;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embedding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2519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Routing  (arXiv 2409.11079 — 38% cost reduction, 97.2% peak accuracy retained)</a:t>
            </a:r>
            <a:endParaRPr lang="en-US" sz="1050" dirty="0"/>
          </a:p>
        </p:txBody>
      </p:sp>
      <p:graphicFrame>
        <p:nvGraphicFramePr>
          <p:cNvPr id="41" name="Chart 0"/>
          <p:cNvGraphicFramePr/>
          <p:nvPr/>
        </p:nvGraphicFramePr>
        <p:xfrm>
          <a:off x="365760" y="4572000"/>
          <a:ext cx="502920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Shape 39"/>
          <p:cNvSpPr/>
          <p:nvPr/>
        </p:nvSpPr>
        <p:spPr>
          <a:xfrm>
            <a:off x="5852160" y="4617720"/>
            <a:ext cx="5943600" cy="347472"/>
          </a:xfrm>
          <a:prstGeom prst="rect">
            <a:avLst/>
          </a:prstGeom>
          <a:solidFill>
            <a:srgbClr val="0E1E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852160" y="4617720"/>
            <a:ext cx="54864" cy="34747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016752" y="4617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classify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9646920" y="4663440"/>
            <a:ext cx="1920240" cy="246888"/>
          </a:xfrm>
          <a:prstGeom prst="rect">
            <a:avLst/>
          </a:prstGeom>
          <a:solidFill>
            <a:srgbClr val="00BFFF">
              <a:alpha val="80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9646920" y="46634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852160" y="5001768"/>
            <a:ext cx="5943600" cy="347472"/>
          </a:xfrm>
          <a:prstGeom prst="rect">
            <a:avLst/>
          </a:prstGeom>
          <a:solidFill>
            <a:srgbClr val="0E1E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852160" y="5001768"/>
            <a:ext cx="54864" cy="347472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016752" y="5001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triage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9646920" y="5047488"/>
            <a:ext cx="1920240" cy="246888"/>
          </a:xfrm>
          <a:prstGeom prst="rect">
            <a:avLst/>
          </a:prstGeom>
          <a:solidFill>
            <a:srgbClr val="FFB700">
              <a:alpha val="80000"/>
            </a:srgbClr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9646920" y="50474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852160" y="5385816"/>
            <a:ext cx="5943600" cy="347472"/>
          </a:xfrm>
          <a:prstGeom prst="rect">
            <a:avLst/>
          </a:prstGeom>
          <a:solidFill>
            <a:srgbClr val="0E1E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852160" y="5385816"/>
            <a:ext cx="54864" cy="347472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016752" y="53858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9646920" y="5431536"/>
            <a:ext cx="1920240" cy="246888"/>
          </a:xfrm>
          <a:prstGeom prst="rect">
            <a:avLst/>
          </a:prstGeom>
          <a:solidFill>
            <a:srgbClr val="FFB700">
              <a:alpha val="80000"/>
            </a:srgbClr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9646920" y="54315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852160" y="5769864"/>
            <a:ext cx="5943600" cy="347472"/>
          </a:xfrm>
          <a:prstGeom prst="rect">
            <a:avLst/>
          </a:prstGeom>
          <a:solidFill>
            <a:srgbClr val="0E1E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5852160" y="5769864"/>
            <a:ext cx="54864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016752" y="5769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log (&gt;128K)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9646920" y="5815584"/>
            <a:ext cx="1920240" cy="246888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9646920" y="58155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852160" y="6153912"/>
            <a:ext cx="5943600" cy="347472"/>
          </a:xfrm>
          <a:prstGeom prst="rect">
            <a:avLst/>
          </a:prstGeom>
          <a:solidFill>
            <a:srgbClr val="0E1E38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5852160" y="6153912"/>
            <a:ext cx="54864" cy="347472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016752" y="6153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report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9646920" y="6199632"/>
            <a:ext cx="1920240" cy="246888"/>
          </a:xfrm>
          <a:prstGeom prst="rect">
            <a:avLst/>
          </a:prstGeom>
          <a:solidFill>
            <a:srgbClr val="00C875">
              <a:alpha val="80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9646920" y="6199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482596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4825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METRICS &amp;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— Validated Metrics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29,651 labelled tickets · Kaggle process mining (242K events) · UCI ITSM (141K rows) · HuggingFace (61.8K pairs)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08760"/>
          <a:ext cx="4572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303520" y="1508760"/>
          <a:ext cx="6492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133088"/>
            <a:ext cx="2743200" cy="1170432"/>
          </a:xfrm>
          <a:prstGeom prst="rect">
            <a:avLst/>
          </a:prstGeom>
          <a:solidFill>
            <a:srgbClr val="EBF2FC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65760" y="4133088"/>
            <a:ext cx="2743200" cy="54864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65760" y="4206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65760" y="4773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F1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91840" y="4133088"/>
            <a:ext cx="2743200" cy="1170432"/>
          </a:xfrm>
          <a:prstGeom prst="rect">
            <a:avLst/>
          </a:prstGeom>
          <a:solidFill>
            <a:srgbClr val="EBF2FC"/>
          </a:solidFill>
          <a:ln w="12700">
            <a:solidFill>
              <a:srgbClr val="00C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91840" y="4133088"/>
            <a:ext cx="2743200" cy="54864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291840" y="4206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291840" y="4773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4133088"/>
            <a:ext cx="2743200" cy="1170432"/>
          </a:xfrm>
          <a:prstGeom prst="rect">
            <a:avLst/>
          </a:prstGeom>
          <a:solidFill>
            <a:srgbClr val="EBF2FC"/>
          </a:solidFill>
          <a:ln w="12700">
            <a:solidFill>
              <a:srgbClr val="0080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17920" y="4133088"/>
            <a:ext cx="2743200" cy="54864"/>
          </a:xfrm>
          <a:prstGeom prst="rect">
            <a:avLst/>
          </a:prstGeom>
          <a:solidFill>
            <a:srgbClr val="00808C"/>
          </a:solidFill>
          <a:ln w="12700">
            <a:solidFill>
              <a:srgbClr val="008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17920" y="4206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217920" y="4773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(AI)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144000" y="4133088"/>
            <a:ext cx="2743200" cy="1170432"/>
          </a:xfrm>
          <a:prstGeom prst="rect">
            <a:avLst/>
          </a:prstGeom>
          <a:solidFill>
            <a:srgbClr val="EBF2FC"/>
          </a:solidFill>
          <a:ln w="12700">
            <a:solidFill>
              <a:srgbClr val="8E44A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144000" y="4133088"/>
            <a:ext cx="274320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144000" y="4206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9144000" y="4773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Rate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65760" y="5458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Tags from Dataset: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65760" y="5760720"/>
            <a:ext cx="18288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FF475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65760" y="5760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Support: 14,152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350008" y="5760720"/>
            <a:ext cx="18288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FF475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350008" y="5760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IT: 13,993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334256" y="5760720"/>
            <a:ext cx="18288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FFB7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334256" y="5760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11,410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18504" y="5760720"/>
            <a:ext cx="18288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FFB7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318504" y="5760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6,596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8302752" y="5760720"/>
            <a:ext cx="18288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8302752" y="5760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7,532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10287000" y="5760720"/>
            <a:ext cx="18288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10287000" y="5760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Outage: 3,593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2002536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reactive and siloed — Ninja unifies, predicts, and self-heals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10312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1508760"/>
            <a:ext cx="274320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6312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12664" y="1508760"/>
            <a:ext cx="2743200" cy="4114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12664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9016" y="1508760"/>
            <a:ext cx="3657600" cy="411480"/>
          </a:xfrm>
          <a:prstGeom prst="rect">
            <a:avLst/>
          </a:prstGeom>
          <a:solidFill>
            <a:srgbClr val="00808C"/>
          </a:solidFill>
          <a:ln w="12700">
            <a:solidFill>
              <a:srgbClr val="008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29016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Advantage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210312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02996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96312" y="1993392"/>
            <a:ext cx="274320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87752" y="20299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ITSM workflows,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built-in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12664" y="1993392"/>
            <a:ext cx="274320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04104" y="20299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AI;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is bolt-on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29016" y="1993392"/>
            <a:ext cx="365760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0456" y="2029968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uses ServiceNow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endpoint, not brain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53512"/>
            <a:ext cx="210312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99008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Watchdog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96312" y="2953512"/>
            <a:ext cx="274320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87752" y="299008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anomaly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 metrics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12664" y="2953512"/>
            <a:ext cx="274320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04104" y="299008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agentic remediation;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NLP resolution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29016" y="2953512"/>
            <a:ext cx="365760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0456" y="2990088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acts on Datadog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as data source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210312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395020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96312" y="3913632"/>
            <a:ext cx="274320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87752" y="395020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AI for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12664" y="3913632"/>
            <a:ext cx="274320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04104" y="395020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multi-agent;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HITL; closed LLM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29016" y="3913632"/>
            <a:ext cx="3657600" cy="877824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0456" y="3950208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ingests Dynatrace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via Snowpipe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873752"/>
            <a:ext cx="210312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491032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ITSM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96312" y="4873752"/>
            <a:ext cx="274320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87752" y="491032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native;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reasoning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12664" y="4873752"/>
            <a:ext cx="274320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04104" y="491032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stand-alone;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fine-tuning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29016" y="4873752"/>
            <a:ext cx="3657600" cy="877824"/>
          </a:xfrm>
          <a:prstGeom prst="rect">
            <a:avLst/>
          </a:prstGeom>
          <a:solidFill>
            <a:srgbClr val="0E1E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20456" y="4910328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uses CoPilot as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in ensemble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5806440"/>
            <a:ext cx="11521440" cy="65836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5806440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DIFFERENTIATOR:  Unified predict → decide → act platform  ·  Multi-LLM ensemble  ·  Snowflake governed DWH  ·  Self-learning 24/7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10% HITL Gateway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confidence-gated — not a static boundary. Every HITL interaction trains the next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3749040" cy="30632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374904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3383280" cy="420624"/>
          </a:xfrm>
          <a:prstGeom prst="rect">
            <a:avLst/>
          </a:prstGeom>
          <a:solidFill>
            <a:srgbClr val="00C875">
              <a:alpha val="82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0.90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Monitoring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852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notification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Snowflake audit 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effort: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124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clicks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1508760"/>
            <a:ext cx="3749040" cy="30632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1508760"/>
            <a:ext cx="374904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0" y="1627632"/>
            <a:ext cx="3383280" cy="420624"/>
          </a:xfrm>
          <a:prstGeom prst="rect">
            <a:avLst/>
          </a:prstGeom>
          <a:solidFill>
            <a:srgbClr val="FFB700">
              <a:alpha val="82000"/>
            </a:srgbClr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162763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0.70–0.89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2852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interactive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Approve/Modify/Reject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effort: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7124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seconds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75320" y="1508760"/>
            <a:ext cx="3749040" cy="30632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75320" y="1508760"/>
            <a:ext cx="374904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1627632"/>
            <a:ext cx="3383280" cy="420624"/>
          </a:xfrm>
          <a:prstGeom prst="rect">
            <a:avLst/>
          </a:prstGeom>
          <a:solidFill>
            <a:srgbClr val="FF4757">
              <a:alpha val="82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58200" y="162763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0.70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Escalation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3920" y="2606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0" y="2852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alert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context bundle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effort: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37124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diagnosis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4681728"/>
            <a:ext cx="11521440" cy="457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5120640"/>
            <a:ext cx="1719072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51206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Resolution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084832" y="5404104"/>
            <a:ext cx="219456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304288" y="5120640"/>
            <a:ext cx="1719072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04288" y="51206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audit_log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23360" y="5404104"/>
            <a:ext cx="219456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242816" y="5120640"/>
            <a:ext cx="1719072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42816" y="51206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 Runbook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61888" y="5404104"/>
            <a:ext cx="219456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81344" y="5120640"/>
            <a:ext cx="1719072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81344" y="51206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Fine-Tune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900416" y="5404104"/>
            <a:ext cx="219456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119872" y="5120640"/>
            <a:ext cx="1719072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19872" y="51206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Updated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38944" y="5404104"/>
            <a:ext cx="219456" cy="0"/>
          </a:xfrm>
          <a:prstGeom prst="line">
            <a:avLst/>
          </a:prstGeom>
          <a:noFill/>
          <a:ln w="254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058400" y="5120640"/>
            <a:ext cx="1719072" cy="56692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058400" y="51206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HITL Triggers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65760" y="58064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90%  →  95–97% autonomous within Q2 2026  (2 quarterly Cortex fine-tune cycles)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Financial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investment of $80K–$120K delivers $750K+ annual savings from Year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320040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320040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Return on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investment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Breakeven: Month 2</a:t>
            </a:r>
            <a:endParaRPr lang="en-US" sz="10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3749040" y="1481328"/>
          <a:ext cx="48463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8732520" y="1417320"/>
            <a:ext cx="32004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732520" y="1417320"/>
            <a:ext cx="106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799320" y="1417320"/>
            <a:ext cx="106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Cost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66120" y="1417320"/>
            <a:ext cx="106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Driven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732520" y="1828800"/>
            <a:ext cx="3200400" cy="42976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96528" y="182880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(6mo)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104120" y="1828800"/>
            <a:ext cx="594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716768" y="1828800"/>
            <a:ext cx="1143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$380K/yr alert waste saved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732520" y="2286000"/>
            <a:ext cx="3200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96528" y="228600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104120" y="2286000"/>
            <a:ext cx="594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716768" y="2286000"/>
            <a:ext cx="1143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$210K/yr SLA penalties avoided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732520" y="2743200"/>
            <a:ext cx="3200400" cy="42976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96528" y="274320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3.5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104120" y="2743200"/>
            <a:ext cx="594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716768" y="2743200"/>
            <a:ext cx="1143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$160K/yr rework eliminated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732520" y="3200400"/>
            <a:ext cx="3200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796528" y="320040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DevOps tooling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104120" y="3200400"/>
            <a:ext cx="594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$11K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0716768" y="3200400"/>
            <a:ext cx="1143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$712K/yr FTE reduction (9 FTE @ $95K)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732520" y="3657600"/>
            <a:ext cx="3200400" cy="429768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796528" y="365760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(8 roles, part)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0104120" y="3657600"/>
            <a:ext cx="594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0716768" y="3657600"/>
            <a:ext cx="1143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$1.46M total annual saving</a:t>
            </a:r>
            <a:endParaRPr lang="en-US" sz="850" dirty="0"/>
          </a:p>
        </p:txBody>
      </p:sp>
      <p:graphicFrame>
        <p:nvGraphicFramePr>
          <p:cNvPr id="37" name="Chart 1"/>
          <p:cNvGraphicFramePr/>
          <p:nvPr/>
        </p:nvGraphicFramePr>
        <p:xfrm>
          <a:off x="365760" y="4041648"/>
          <a:ext cx="8229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8" name="Shape 34"/>
          <p:cNvSpPr/>
          <p:nvPr/>
        </p:nvSpPr>
        <p:spPr>
          <a:xfrm>
            <a:off x="8732520" y="4041648"/>
            <a:ext cx="3200400" cy="2468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8732520" y="4041648"/>
            <a:ext cx="320040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8732520" y="4160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0" spc="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0" spc="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0" spc="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873252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$6.5M+</a:t>
            </a:r>
            <a:endParaRPr lang="en-US" sz="3800" dirty="0"/>
          </a:p>
        </p:txBody>
      </p:sp>
      <p:sp>
        <p:nvSpPr>
          <p:cNvPr id="42" name="Text 38"/>
          <p:cNvSpPr/>
          <p:nvPr/>
        </p:nvSpPr>
        <p:spPr>
          <a:xfrm>
            <a:off x="8732520" y="55778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maintaining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human-only ops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2098548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20985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v2.0 — From 90% to 95–97%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Research-backed capability upgrades  ·  Target: Q2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3749040" cy="171907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374904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" y="16002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0208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2409.11079,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585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reduces LLM cost 38% while retaining 97.2% peak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autonomous rate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LLM cost reduction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508760"/>
            <a:ext cx="3749040" cy="171907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7680" y="1508760"/>
            <a:ext cx="3749040" cy="54864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6002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9472" y="16002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0208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2603.29632,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2585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team architecture outperforms parallel agents on complex multi-step tasks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7523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autonomous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60% re-open incidents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75320" y="1508760"/>
            <a:ext cx="3749040" cy="171907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75320" y="1508760"/>
            <a:ext cx="37490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0" y="16002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97112" y="16002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 Deviation 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20208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Anggraeni et al., JITECS 2023 (544 citations)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22585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achieved 81% ITIL conformance; identified 3 systemic bottlenecks in same dataset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27523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autonomous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re-open loop gap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520440"/>
            <a:ext cx="3749040" cy="171907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3749040" cy="54864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118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1832" y="3611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Agent Guardrails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0325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 Algorithms Vol.18(8), 2025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270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need structured policy guardrails to prevent goal misalignment at scale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640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HITL false escalations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~25%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3520440"/>
            <a:ext cx="3749040" cy="171907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297680" y="3520440"/>
            <a:ext cx="3749040" cy="54864"/>
          </a:xfrm>
          <a:prstGeom prst="rect">
            <a:avLst/>
          </a:prstGeom>
          <a:solidFill>
            <a:srgbClr val="00808C"/>
          </a:solidFill>
          <a:ln w="12700">
            <a:solidFill>
              <a:srgbClr val="008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34840" y="36118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19472" y="3611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Intelligence Agentic Docs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34840" y="40325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Summit 2025 (BUILD, Dec 2025)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34840" y="4270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Document Analytics enables aggregate queries over thousands of unstructured tickets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34840" y="47640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long-tail edge cases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v2.0 knowledge loop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5349240"/>
            <a:ext cx="1152144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0040" y="5349240"/>
            <a:ext cx="1152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V2.0 TARGET:  90%  →  95–97% Autonomous Resolution  ·  35% LLM Cost Reduction  ·  Delivery: Q2 2026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SAVINGS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Cost: 5-Year Outlook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12 FTE manual operations to 3 FTE strategic oversight — sustainable, scalable, auditable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481328"/>
          <a:ext cx="5669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217920" y="1481328"/>
          <a:ext cx="56235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480560"/>
            <a:ext cx="2788920" cy="1353312"/>
          </a:xfrm>
          <a:prstGeom prst="rect">
            <a:avLst/>
          </a:prstGeom>
          <a:solidFill>
            <a:srgbClr val="EBF2FC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65760" y="4480560"/>
            <a:ext cx="2788920" cy="6400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6576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54864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3 FTE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37560" y="4480560"/>
            <a:ext cx="2788920" cy="1353312"/>
          </a:xfrm>
          <a:prstGeom prst="rect">
            <a:avLst/>
          </a:prstGeom>
          <a:solidFill>
            <a:srgbClr val="EBF2FC"/>
          </a:solidFill>
          <a:ln w="12700">
            <a:solidFill>
              <a:srgbClr val="0080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37560" y="4480560"/>
            <a:ext cx="2788920" cy="64008"/>
          </a:xfrm>
          <a:prstGeom prst="rect">
            <a:avLst/>
          </a:prstGeom>
          <a:solidFill>
            <a:srgbClr val="00808C"/>
          </a:solidFill>
          <a:ln w="12700">
            <a:solidFill>
              <a:srgbClr val="008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337560" y="4572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-98%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333756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Alert-to-Action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37560" y="54864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 → 90 sec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309360" y="4480560"/>
            <a:ext cx="2788920" cy="1353312"/>
          </a:xfrm>
          <a:prstGeom prst="rect">
            <a:avLst/>
          </a:prstGeom>
          <a:solidFill>
            <a:srgbClr val="EBF2FC"/>
          </a:solidFill>
          <a:ln w="12700">
            <a:solidFill>
              <a:srgbClr val="8E44A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09360" y="4480560"/>
            <a:ext cx="278892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09360" y="4572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+7x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630936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309360" y="54864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2–3/mo → 15–20/mo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9281160" y="4480560"/>
            <a:ext cx="2788920" cy="1353312"/>
          </a:xfrm>
          <a:prstGeom prst="rect">
            <a:avLst/>
          </a:prstGeom>
          <a:solidFill>
            <a:srgbClr val="EBF2FC"/>
          </a:solidFill>
          <a:ln w="12700">
            <a:solidFill>
              <a:srgbClr val="FFB7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9281160" y="4480560"/>
            <a:ext cx="278892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281160" y="4572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+54%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928116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281160" y="54864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→ 4.3 / 5.0 Likert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5897880"/>
            <a:ext cx="11430000" cy="566928"/>
          </a:xfrm>
          <a:prstGeom prst="rect">
            <a:avLst/>
          </a:prstGeom>
          <a:solidFill>
            <a:srgbClr val="E8F0F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57200" y="589788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Siemens Energy: instant answers vs hours manual search (Snowflake Cortex, 2025)  ·  RNDC: 15% faster replenishment cycles  ·  Capgemini/Snowflake: significant FTE reduction in support ops (2024)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2194560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OPTIMISATIONS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Horizons — Ninja v3.0+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97% autonomous resolution — predictive, collaborative, self-governing AI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3749040" cy="427939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374904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530352" cy="5303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6642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Ninja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84632" y="2359152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B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" y="235915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" y="23591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agentic core across subsidiaries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4632" y="3017520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B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4632" y="3017520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" y="3017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Cortex Fine-Tune isolation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" y="3675888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B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4632" y="3675888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2648" y="36758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HITL governance dashboard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4632" y="4334256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B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4632" y="4334256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2648" y="433425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per-unit AI cost by 60%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297680" y="1508760"/>
            <a:ext cx="3749040" cy="427939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297680" y="1508760"/>
            <a:ext cx="374904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64208"/>
            <a:ext cx="530352" cy="53035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66360" y="16642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Incident Prevention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4462272" y="2359152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FFB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462272" y="2359152"/>
            <a:ext cx="54864" cy="54864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590288" y="23591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ML predicts incidents 2 hrs ahead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462272" y="3017520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FFB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462272" y="3017520"/>
            <a:ext cx="54864" cy="54864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590288" y="3017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pre-emptively scales infra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4462272" y="3675888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FFB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462272" y="3675888"/>
            <a:ext cx="54864" cy="54864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590288" y="36758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drops to near-zero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4462272" y="4334256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FFB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462272" y="4334256"/>
            <a:ext cx="54864" cy="54864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590288" y="433425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fire-fighting culture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8275320" y="1508760"/>
            <a:ext cx="3749040" cy="4279392"/>
          </a:xfrm>
          <a:prstGeom prst="rect">
            <a:avLst/>
          </a:prstGeom>
          <a:solidFill>
            <a:srgbClr val="112244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8275320" y="1508760"/>
            <a:ext cx="374904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664208"/>
            <a:ext cx="530352" cy="53035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144000" y="16642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Self-Governing Policy Engine</a:t>
            </a:r>
            <a:endParaRPr lang="en-US" sz="1500" dirty="0"/>
          </a:p>
        </p:txBody>
      </p:sp>
      <p:sp>
        <p:nvSpPr>
          <p:cNvPr id="44" name="Shape 39"/>
          <p:cNvSpPr/>
          <p:nvPr/>
        </p:nvSpPr>
        <p:spPr>
          <a:xfrm>
            <a:off x="8439912" y="2359152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C8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8439912" y="2359152"/>
            <a:ext cx="54864" cy="54864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8567928" y="23591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per-agent guardrails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8439912" y="3017520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C8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8439912" y="3017520"/>
            <a:ext cx="54864" cy="54864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8567928" y="3017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ITIL compliance policies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>
            <a:off x="8439912" y="3675888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C8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6"/>
          <p:cNvSpPr/>
          <p:nvPr/>
        </p:nvSpPr>
        <p:spPr>
          <a:xfrm>
            <a:off x="8439912" y="3675888"/>
            <a:ext cx="54864" cy="54864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567928" y="36758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ISO27001 self-audit</a:t>
            </a:r>
            <a:endParaRPr lang="en-US" sz="1150" dirty="0"/>
          </a:p>
        </p:txBody>
      </p:sp>
      <p:sp>
        <p:nvSpPr>
          <p:cNvPr id="53" name="Shape 48"/>
          <p:cNvSpPr/>
          <p:nvPr/>
        </p:nvSpPr>
        <p:spPr>
          <a:xfrm>
            <a:off x="8439912" y="4334256"/>
            <a:ext cx="3419856" cy="548640"/>
          </a:xfrm>
          <a:prstGeom prst="rect">
            <a:avLst/>
          </a:prstGeom>
          <a:solidFill>
            <a:srgbClr val="0E1E38"/>
          </a:solidFill>
          <a:ln w="12700">
            <a:solidFill>
              <a:srgbClr val="00C8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8439912" y="4334256"/>
            <a:ext cx="54864" cy="54864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8567928" y="433425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policy maintenance</a:t>
            </a:r>
            <a:endParaRPr lang="en-US" sz="1150" dirty="0"/>
          </a:p>
        </p:txBody>
      </p:sp>
      <p:sp>
        <p:nvSpPr>
          <p:cNvPr id="56" name="Shape 51"/>
          <p:cNvSpPr/>
          <p:nvPr/>
        </p:nvSpPr>
        <p:spPr>
          <a:xfrm>
            <a:off x="320040" y="5897880"/>
            <a:ext cx="11521440" cy="658368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00B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457200" y="589788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 Project Ninja evolves from a service desk automation tool into a fully autonomous, self-improving IT operations intelligence platform — the backbone of enterprise digital resilience.</a:t>
            </a:r>
            <a:endParaRPr lang="en-US" sz="1200" dirty="0"/>
          </a:p>
        </p:txBody>
      </p:sp>
      <p:sp>
        <p:nvSpPr>
          <p:cNvPr id="58" name="Text 53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14500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7145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Accomplished — KPI Scorecard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target met or exceeded — from the lens of your Lead Scientist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3716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55648" y="1508760"/>
            <a:ext cx="23774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55648" y="1508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97096" y="1508760"/>
            <a:ext cx="13716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97096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32704" y="1508760"/>
            <a:ext cx="13716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32704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68312" y="1508760"/>
            <a:ext cx="13716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68312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508760"/>
            <a:ext cx="9144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0" y="1508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96596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19659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55648" y="1965960"/>
            <a:ext cx="237744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0" y="196596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97096" y="196596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70248" y="19659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32704" y="196596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05856" y="19659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1.3 hrs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68312" y="196596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41464" y="19659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hrs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1965960"/>
            <a:ext cx="914400" cy="512064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77072" y="1965960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51460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25146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55648" y="2514600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0" y="251460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97096" y="251460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70248" y="25146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32704" y="251460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05856" y="25146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68312" y="251460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41464" y="25146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2514600"/>
            <a:ext cx="914400" cy="512064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77072" y="2514600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306324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3192" y="306324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755648" y="3063240"/>
            <a:ext cx="237744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28800" y="306324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97096" y="306324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70248" y="306324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32704" y="306324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05856" y="306324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068312" y="306324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41464" y="306324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03920" y="3063240"/>
            <a:ext cx="914400" cy="512064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577072" y="3063240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361188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93192" y="361188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755648" y="3611880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828800" y="361188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Save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197096" y="361188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70248" y="361188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32704" y="361188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705856" y="361188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068312" y="361188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141464" y="361188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503920" y="3611880"/>
            <a:ext cx="914400" cy="512064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577072" y="3611880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" y="416052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93192" y="416052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755648" y="4160520"/>
            <a:ext cx="237744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828800" y="416052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197096" y="416052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270248" y="416052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632704" y="416052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705856" y="416052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93%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068312" y="416052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141464" y="416052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93%+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503920" y="4160520"/>
            <a:ext cx="914400" cy="512064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577072" y="4160520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20040" y="470916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93192" y="47091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755648" y="4709160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828800" y="470916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 Rate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197096" y="470916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270248" y="47091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632704" y="470916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705856" y="47091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068312" y="4709160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141464" y="47091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503920" y="4709160"/>
            <a:ext cx="914400" cy="512064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577072" y="4709160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20040" y="525780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93192" y="52578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1755648" y="5257800"/>
            <a:ext cx="237744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828800" y="5257800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Dashboard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197096" y="525780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270248" y="52578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weekly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632704" y="525780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705856" y="52578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068312" y="5257800"/>
            <a:ext cx="1371600" cy="512064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141464" y="525780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8503920" y="5257800"/>
            <a:ext cx="914400" cy="512064"/>
          </a:xfrm>
          <a:prstGeom prst="rect">
            <a:avLst/>
          </a:prstGeom>
          <a:solidFill>
            <a:srgbClr val="E8F8F0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8577072" y="5257800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320040" y="5806440"/>
            <a:ext cx="11521440" cy="713232"/>
          </a:xfrm>
          <a:prstGeom prst="rect">
            <a:avLst/>
          </a:prstGeom>
          <a:solidFill>
            <a:srgbClr val="E8F8F0"/>
          </a:solidFill>
          <a:ln w="12700">
            <a:solidFill>
              <a:srgbClr val="00C87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57200" y="58064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KPIs MET  ·  MTTR reduced 74%  ·  $750K+ annual saving delivered  ·  90% autonomous resolution achieved  ·  Engineering satisfaction +54%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9065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Are Saying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Unsolicited feedback from engineers, IT leads and executives — post Ninja deployment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3749040" cy="2212848"/>
          </a:xfrm>
          <a:prstGeom prst="rect">
            <a:avLst/>
          </a:prstGeom>
          <a:solidFill>
            <a:srgbClr val="112244"/>
          </a:solidFill>
          <a:ln w="12700">
            <a:solidFill>
              <a:srgbClr val="FFB700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374904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64008" cy="2148840"/>
          </a:xfrm>
          <a:prstGeom prst="rect">
            <a:avLst/>
          </a:prstGeom>
          <a:solidFill>
            <a:srgbClr val="FFB700">
              <a:alpha val="40000"/>
            </a:srgbClr>
          </a:solidFill>
          <a:ln w="12700">
            <a:solidFill>
              <a:srgbClr val="FFB7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9164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" y="2039112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resolved my VDI crash before I even raised a ticket. I genuinely sat there wondering if IT had hired magicians overnight.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154680"/>
            <a:ext cx="201168" cy="201168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201168" cy="201168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154680"/>
            <a:ext cx="201168" cy="201168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3154680"/>
            <a:ext cx="201168" cy="20116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315468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1208" y="331927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Sarah K.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521208" y="352958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Engineering, Cloud Infra</a:t>
            </a:r>
            <a:endParaRPr lang="en-US" sz="950" dirty="0"/>
          </a:p>
        </p:txBody>
      </p:sp>
      <p:sp>
        <p:nvSpPr>
          <p:cNvPr id="18" name="Shape 10"/>
          <p:cNvSpPr/>
          <p:nvPr/>
        </p:nvSpPr>
        <p:spPr>
          <a:xfrm>
            <a:off x="4297680" y="1536192"/>
            <a:ext cx="3749040" cy="221284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4297680" y="1536192"/>
            <a:ext cx="374904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4297680" y="1600200"/>
            <a:ext cx="64008" cy="2148840"/>
          </a:xfrm>
          <a:prstGeom prst="rect">
            <a:avLst/>
          </a:prstGeom>
          <a:solidFill>
            <a:srgbClr val="00BFFF">
              <a:alpha val="40000"/>
            </a:srgbClr>
          </a:solidFill>
          <a:ln w="12700">
            <a:solidFill>
              <a:srgbClr val="00B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691640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498848" y="2039112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went from 4 hours to under 10 minutes. My weekend on-call shifts have gone from nightmare to... quiet. Blissfully quiet.</a:t>
            </a:r>
            <a:endParaRPr lang="en-US" sz="11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154680"/>
            <a:ext cx="201168" cy="201168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54680"/>
            <a:ext cx="201168" cy="201168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154680"/>
            <a:ext cx="201168" cy="201168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3154680"/>
            <a:ext cx="201168" cy="201168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3154680"/>
            <a:ext cx="201168" cy="20116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498848" y="331927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James O.</a:t>
            </a:r>
            <a:endParaRPr lang="en-US" sz="1100" dirty="0"/>
          </a:p>
        </p:txBody>
      </p:sp>
      <p:sp>
        <p:nvSpPr>
          <p:cNvPr id="29" name="Text 15"/>
          <p:cNvSpPr/>
          <p:nvPr/>
        </p:nvSpPr>
        <p:spPr>
          <a:xfrm>
            <a:off x="4498848" y="352958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 Lead, Enterprise Ops</a:t>
            </a:r>
            <a:endParaRPr lang="en-US" sz="950" dirty="0"/>
          </a:p>
        </p:txBody>
      </p:sp>
      <p:sp>
        <p:nvSpPr>
          <p:cNvPr id="30" name="Shape 16"/>
          <p:cNvSpPr/>
          <p:nvPr/>
        </p:nvSpPr>
        <p:spPr>
          <a:xfrm>
            <a:off x="8275320" y="1536192"/>
            <a:ext cx="3749040" cy="2212848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75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17"/>
          <p:cNvSpPr/>
          <p:nvPr/>
        </p:nvSpPr>
        <p:spPr>
          <a:xfrm>
            <a:off x="8275320" y="1536192"/>
            <a:ext cx="374904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8"/>
          <p:cNvSpPr/>
          <p:nvPr/>
        </p:nvSpPr>
        <p:spPr>
          <a:xfrm>
            <a:off x="8275320" y="1600200"/>
            <a:ext cx="64008" cy="2148840"/>
          </a:xfrm>
          <a:prstGeom prst="rect">
            <a:avLst/>
          </a:prstGeom>
          <a:solidFill>
            <a:srgbClr val="00C875">
              <a:alpha val="40000"/>
            </a:srgbClr>
          </a:solidFill>
          <a:ln w="12700">
            <a:solidFill>
              <a:srgbClr val="00C8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691640"/>
            <a:ext cx="292608" cy="29260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8476488" y="2039112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understood our network topology better than our Level-2 engineers on day one. That tells you everything you need to know.</a:t>
            </a:r>
            <a:endParaRPr lang="en-US" sz="115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3154680"/>
            <a:ext cx="201168" cy="201168"/>
          </a:xfrm>
          <a:prstGeom prst="rect">
            <a:avLst/>
          </a:prstGeom>
        </p:spPr>
      </p:pic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154680"/>
            <a:ext cx="201168" cy="201168"/>
          </a:xfrm>
          <a:prstGeom prst="rect">
            <a:avLst/>
          </a:prstGeom>
        </p:spPr>
      </p:pic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3154680"/>
            <a:ext cx="201168" cy="201168"/>
          </a:xfrm>
          <a:prstGeom prst="rect">
            <a:avLst/>
          </a:prstGeom>
        </p:spPr>
      </p:pic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3154680"/>
            <a:ext cx="201168" cy="201168"/>
          </a:xfrm>
          <a:prstGeom prst="rect">
            <a:avLst/>
          </a:prstGeom>
        </p:spPr>
      </p:pic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3154680"/>
            <a:ext cx="201168" cy="201168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8476488" y="331927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Priya M.</a:t>
            </a:r>
            <a:endParaRPr lang="en-US" sz="1100" dirty="0"/>
          </a:p>
        </p:txBody>
      </p:sp>
      <p:sp>
        <p:nvSpPr>
          <p:cNvPr id="41" name="Text 21"/>
          <p:cNvSpPr/>
          <p:nvPr/>
        </p:nvSpPr>
        <p:spPr>
          <a:xfrm>
            <a:off x="8476488" y="352958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Office, Digital Strategy</a:t>
            </a:r>
            <a:endParaRPr lang="en-US" sz="950" dirty="0"/>
          </a:p>
        </p:txBody>
      </p:sp>
      <p:sp>
        <p:nvSpPr>
          <p:cNvPr id="42" name="Shape 22"/>
          <p:cNvSpPr/>
          <p:nvPr/>
        </p:nvSpPr>
        <p:spPr>
          <a:xfrm>
            <a:off x="320040" y="3959352"/>
            <a:ext cx="3749040" cy="2212848"/>
          </a:xfrm>
          <a:prstGeom prst="rect">
            <a:avLst/>
          </a:prstGeom>
          <a:solidFill>
            <a:srgbClr val="112244"/>
          </a:solidFill>
          <a:ln w="12700">
            <a:solidFill>
              <a:srgbClr val="00808C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23"/>
          <p:cNvSpPr/>
          <p:nvPr/>
        </p:nvSpPr>
        <p:spPr>
          <a:xfrm>
            <a:off x="320040" y="3959352"/>
            <a:ext cx="3749040" cy="64008"/>
          </a:xfrm>
          <a:prstGeom prst="rect">
            <a:avLst/>
          </a:prstGeom>
          <a:solidFill>
            <a:srgbClr val="00808C"/>
          </a:solidFill>
          <a:ln w="12700">
            <a:solidFill>
              <a:srgbClr val="008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4"/>
          <p:cNvSpPr/>
          <p:nvPr/>
        </p:nvSpPr>
        <p:spPr>
          <a:xfrm>
            <a:off x="320040" y="4023360"/>
            <a:ext cx="64008" cy="2148840"/>
          </a:xfrm>
          <a:prstGeom prst="rect">
            <a:avLst/>
          </a:prstGeom>
          <a:solidFill>
            <a:srgbClr val="00808C">
              <a:alpha val="40000"/>
            </a:srgbClr>
          </a:solidFill>
          <a:ln w="12700">
            <a:solidFill>
              <a:srgbClr val="0080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114800"/>
            <a:ext cx="292608" cy="292608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521208" y="4462272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dread Monday morning alert storms. Now Ninja handles them before I've had my first coffee. This is what IT should feel like.</a:t>
            </a:r>
            <a:endParaRPr lang="en-US" sz="1150" dirty="0"/>
          </a:p>
        </p:txBody>
      </p:sp>
      <p:pic>
        <p:nvPicPr>
          <p:cNvPr id="47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5577840"/>
            <a:ext cx="201168" cy="201168"/>
          </a:xfrm>
          <a:prstGeom prst="rect">
            <a:avLst/>
          </a:prstGeom>
        </p:spPr>
      </p:pic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77840"/>
            <a:ext cx="201168" cy="201168"/>
          </a:xfrm>
          <a:prstGeom prst="rect">
            <a:avLst/>
          </a:prstGeom>
        </p:spPr>
      </p:pic>
      <p:pic>
        <p:nvPicPr>
          <p:cNvPr id="49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577840"/>
            <a:ext cx="201168" cy="201168"/>
          </a:xfrm>
          <a:prstGeom prst="rect">
            <a:avLst/>
          </a:prstGeom>
        </p:spPr>
      </p:pic>
      <p:pic>
        <p:nvPicPr>
          <p:cNvPr id="50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5577840"/>
            <a:ext cx="201168" cy="201168"/>
          </a:xfrm>
          <a:prstGeom prst="rect">
            <a:avLst/>
          </a:prstGeom>
        </p:spPr>
      </p:pic>
      <p:pic>
        <p:nvPicPr>
          <p:cNvPr id="51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5577840"/>
            <a:ext cx="201168" cy="201168"/>
          </a:xfrm>
          <a:prstGeom prst="rect">
            <a:avLst/>
          </a:prstGeom>
        </p:spPr>
      </p:pic>
      <p:sp>
        <p:nvSpPr>
          <p:cNvPr id="52" name="Text 26"/>
          <p:cNvSpPr/>
          <p:nvPr/>
        </p:nvSpPr>
        <p:spPr>
          <a:xfrm>
            <a:off x="521208" y="574243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Marcus T.</a:t>
            </a:r>
            <a:endParaRPr lang="en-US" sz="1100" dirty="0"/>
          </a:p>
        </p:txBody>
      </p:sp>
      <p:sp>
        <p:nvSpPr>
          <p:cNvPr id="53" name="Text 27"/>
          <p:cNvSpPr/>
          <p:nvPr/>
        </p:nvSpPr>
        <p:spPr>
          <a:xfrm>
            <a:off x="521208" y="595274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DevOps Engineer</a:t>
            </a:r>
            <a:endParaRPr lang="en-US" sz="950" dirty="0"/>
          </a:p>
        </p:txBody>
      </p:sp>
      <p:sp>
        <p:nvSpPr>
          <p:cNvPr id="54" name="Shape 28"/>
          <p:cNvSpPr/>
          <p:nvPr/>
        </p:nvSpPr>
        <p:spPr>
          <a:xfrm>
            <a:off x="4297680" y="3959352"/>
            <a:ext cx="3749040" cy="2212848"/>
          </a:xfrm>
          <a:prstGeom prst="rect">
            <a:avLst/>
          </a:prstGeom>
          <a:solidFill>
            <a:srgbClr val="112244"/>
          </a:solidFill>
          <a:ln w="12700">
            <a:solidFill>
              <a:srgbClr val="FFB700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29"/>
          <p:cNvSpPr/>
          <p:nvPr/>
        </p:nvSpPr>
        <p:spPr>
          <a:xfrm>
            <a:off x="4297680" y="3959352"/>
            <a:ext cx="374904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30"/>
          <p:cNvSpPr/>
          <p:nvPr/>
        </p:nvSpPr>
        <p:spPr>
          <a:xfrm>
            <a:off x="4297680" y="4023360"/>
            <a:ext cx="64008" cy="2148840"/>
          </a:xfrm>
          <a:prstGeom prst="rect">
            <a:avLst/>
          </a:prstGeom>
          <a:solidFill>
            <a:srgbClr val="FFB700">
              <a:alpha val="40000"/>
            </a:srgbClr>
          </a:solidFill>
          <a:ln w="12700">
            <a:solidFill>
              <a:srgbClr val="FFB7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4114800"/>
            <a:ext cx="292608" cy="292608"/>
          </a:xfrm>
          <a:prstGeom prst="rect">
            <a:avLst/>
          </a:prstGeom>
        </p:spPr>
      </p:pic>
      <p:sp>
        <p:nvSpPr>
          <p:cNvPr id="58" name="Text 31"/>
          <p:cNvSpPr/>
          <p:nvPr/>
        </p:nvSpPr>
        <p:spPr>
          <a:xfrm>
            <a:off x="4498848" y="4462272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SSL certificate renewal happened automatically at 2am. Not one user noticed. Not one ticket raised. That's the dream.</a:t>
            </a:r>
            <a:endParaRPr lang="en-US" sz="1150" dirty="0"/>
          </a:p>
        </p:txBody>
      </p:sp>
      <p:pic>
        <p:nvPicPr>
          <p:cNvPr id="59" name="Image 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5577840"/>
            <a:ext cx="201168" cy="201168"/>
          </a:xfrm>
          <a:prstGeom prst="rect">
            <a:avLst/>
          </a:prstGeom>
        </p:spPr>
      </p:pic>
      <p:pic>
        <p:nvPicPr>
          <p:cNvPr id="60" name="Image 2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577840"/>
            <a:ext cx="201168" cy="201168"/>
          </a:xfrm>
          <a:prstGeom prst="rect">
            <a:avLst/>
          </a:prstGeom>
        </p:spPr>
      </p:pic>
      <p:pic>
        <p:nvPicPr>
          <p:cNvPr id="61" name="Image 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5577840"/>
            <a:ext cx="201168" cy="201168"/>
          </a:xfrm>
          <a:prstGeom prst="rect">
            <a:avLst/>
          </a:prstGeom>
        </p:spPr>
      </p:pic>
      <p:pic>
        <p:nvPicPr>
          <p:cNvPr id="62" name="Image 2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5577840"/>
            <a:ext cx="201168" cy="201168"/>
          </a:xfrm>
          <a:prstGeom prst="rect">
            <a:avLst/>
          </a:prstGeom>
        </p:spPr>
      </p:pic>
      <p:pic>
        <p:nvPicPr>
          <p:cNvPr id="63" name="Image 2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5577840"/>
            <a:ext cx="201168" cy="201168"/>
          </a:xfrm>
          <a:prstGeom prst="rect">
            <a:avLst/>
          </a:prstGeom>
        </p:spPr>
      </p:pic>
      <p:sp>
        <p:nvSpPr>
          <p:cNvPr id="64" name="Text 32"/>
          <p:cNvSpPr/>
          <p:nvPr/>
        </p:nvSpPr>
        <p:spPr>
          <a:xfrm>
            <a:off x="4498848" y="574243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Aisha N.</a:t>
            </a:r>
            <a:endParaRPr lang="en-US" sz="1100" dirty="0"/>
          </a:p>
        </p:txBody>
      </p:sp>
      <p:sp>
        <p:nvSpPr>
          <p:cNvPr id="65" name="Text 33"/>
          <p:cNvSpPr/>
          <p:nvPr/>
        </p:nvSpPr>
        <p:spPr>
          <a:xfrm>
            <a:off x="4498848" y="595274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 Architect</a:t>
            </a:r>
            <a:endParaRPr lang="en-US" sz="950" dirty="0"/>
          </a:p>
        </p:txBody>
      </p:sp>
      <p:sp>
        <p:nvSpPr>
          <p:cNvPr id="66" name="Shape 34"/>
          <p:cNvSpPr/>
          <p:nvPr/>
        </p:nvSpPr>
        <p:spPr>
          <a:xfrm>
            <a:off x="8275320" y="3959352"/>
            <a:ext cx="3749040" cy="2212848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75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35"/>
          <p:cNvSpPr/>
          <p:nvPr/>
        </p:nvSpPr>
        <p:spPr>
          <a:xfrm>
            <a:off x="8275320" y="3959352"/>
            <a:ext cx="3749040" cy="6400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36"/>
          <p:cNvSpPr/>
          <p:nvPr/>
        </p:nvSpPr>
        <p:spPr>
          <a:xfrm>
            <a:off x="8275320" y="4023360"/>
            <a:ext cx="64008" cy="2148840"/>
          </a:xfrm>
          <a:prstGeom prst="rect">
            <a:avLst/>
          </a:prstGeom>
          <a:solidFill>
            <a:srgbClr val="00C875">
              <a:alpha val="40000"/>
            </a:srgbClr>
          </a:solidFill>
          <a:ln w="12700">
            <a:solidFill>
              <a:srgbClr val="00C8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4114800"/>
            <a:ext cx="292608" cy="292608"/>
          </a:xfrm>
          <a:prstGeom prst="rect">
            <a:avLst/>
          </a:prstGeom>
        </p:spPr>
      </p:pic>
      <p:sp>
        <p:nvSpPr>
          <p:cNvPr id="70" name="Text 37"/>
          <p:cNvSpPr/>
          <p:nvPr/>
        </p:nvSpPr>
        <p:spPr>
          <a:xfrm>
            <a:off x="8476488" y="4462272"/>
            <a:ext cx="34015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satisfaction went from 2.8 to 4.3. My team actually smiles on Monday mornings now. I never thought I'd say that.</a:t>
            </a:r>
            <a:endParaRPr lang="en-US" sz="1150" dirty="0"/>
          </a:p>
        </p:txBody>
      </p:sp>
      <p:pic>
        <p:nvPicPr>
          <p:cNvPr id="71" name="Image 3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5577840"/>
            <a:ext cx="201168" cy="201168"/>
          </a:xfrm>
          <a:prstGeom prst="rect">
            <a:avLst/>
          </a:prstGeom>
        </p:spPr>
      </p:pic>
      <p:pic>
        <p:nvPicPr>
          <p:cNvPr id="72" name="Image 3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5577840"/>
            <a:ext cx="201168" cy="201168"/>
          </a:xfrm>
          <a:prstGeom prst="rect">
            <a:avLst/>
          </a:prstGeom>
        </p:spPr>
      </p:pic>
      <p:pic>
        <p:nvPicPr>
          <p:cNvPr id="73" name="Image 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5577840"/>
            <a:ext cx="201168" cy="201168"/>
          </a:xfrm>
          <a:prstGeom prst="rect">
            <a:avLst/>
          </a:prstGeom>
        </p:spPr>
      </p:pic>
      <p:pic>
        <p:nvPicPr>
          <p:cNvPr id="74" name="Image 3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5577840"/>
            <a:ext cx="201168" cy="201168"/>
          </a:xfrm>
          <a:prstGeom prst="rect">
            <a:avLst/>
          </a:prstGeom>
        </p:spPr>
      </p:pic>
      <p:pic>
        <p:nvPicPr>
          <p:cNvPr id="75" name="Image 3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5577840"/>
            <a:ext cx="201168" cy="201168"/>
          </a:xfrm>
          <a:prstGeom prst="rect">
            <a:avLst/>
          </a:prstGeom>
        </p:spPr>
      </p:pic>
      <p:sp>
        <p:nvSpPr>
          <p:cNvPr id="76" name="Text 38"/>
          <p:cNvSpPr/>
          <p:nvPr/>
        </p:nvSpPr>
        <p:spPr>
          <a:xfrm>
            <a:off x="8476488" y="574243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David R.</a:t>
            </a:r>
            <a:endParaRPr lang="en-US" sz="1100" dirty="0"/>
          </a:p>
        </p:txBody>
      </p:sp>
      <p:sp>
        <p:nvSpPr>
          <p:cNvPr id="77" name="Text 39"/>
          <p:cNvSpPr/>
          <p:nvPr/>
        </p:nvSpPr>
        <p:spPr>
          <a:xfrm>
            <a:off x="8476488" y="595274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Infrastructure &amp; Operations</a:t>
            </a:r>
            <a:endParaRPr lang="en-US" sz="950" dirty="0"/>
          </a:p>
        </p:txBody>
      </p:sp>
      <p:sp>
        <p:nvSpPr>
          <p:cNvPr id="78" name="Shape 40"/>
          <p:cNvSpPr/>
          <p:nvPr/>
        </p:nvSpPr>
        <p:spPr>
          <a:xfrm>
            <a:off x="328168" y="6208776"/>
            <a:ext cx="11521440" cy="566928"/>
          </a:xfrm>
          <a:prstGeom prst="rect">
            <a:avLst/>
          </a:prstGeom>
          <a:solidFill>
            <a:srgbClr val="FFB700">
              <a:alpha val="85000"/>
            </a:srgbClr>
          </a:solidFill>
          <a:ln w="12700">
            <a:solidFill>
              <a:srgbClr val="FFB7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41"/>
          <p:cNvSpPr/>
          <p:nvPr/>
        </p:nvSpPr>
        <p:spPr>
          <a:xfrm>
            <a:off x="457200" y="60533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 Post-Deployment: +72  ·  Engineer Satisfaction: 2.8 → 4.3 / 5.0  ·  SLA Compliance: 72% → 93%+  ·  Zero P1 incidents missed in Month 1</a:t>
            </a:r>
            <a:endParaRPr lang="en-US" sz="1250" dirty="0"/>
          </a:p>
        </p:txBody>
      </p:sp>
      <p:sp>
        <p:nvSpPr>
          <p:cNvPr id="80" name="Text 42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246888"/>
          </a:xfrm>
          <a:prstGeom prst="rect">
            <a:avLst/>
          </a:prstGeom>
          <a:solidFill>
            <a:srgbClr val="00BFFF">
              <a:alpha val="85000"/>
            </a:srgbClr>
          </a:solidFill>
          <a:ln w="12700">
            <a:solidFill>
              <a:srgbClr val="00BFFF">
                <a:alpha val="8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Transformation — User Experience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validated through post-deployment surveys across 140,000 users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8404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572768"/>
            <a:ext cx="2286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51960" y="1572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Ninja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1572768"/>
            <a:ext cx="2286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9400" y="1572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Ninja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06840" y="1572768"/>
            <a:ext cx="192024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06840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384048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0299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Resolve (MTTR)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2029968"/>
            <a:ext cx="22860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202996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hours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2029968"/>
            <a:ext cx="22860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202996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hours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2029968"/>
            <a:ext cx="192024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98280" y="202996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-74%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265176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6517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On-Call Incidents/Week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51960" y="2651760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43400" y="265176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alerts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2651760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20840" y="265176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alerts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06840" y="2651760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98280" y="26517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-94%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0040" y="3273552"/>
            <a:ext cx="384048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2735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Rate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251960" y="3273552"/>
            <a:ext cx="22860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3400" y="327355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29400" y="3273552"/>
            <a:ext cx="22860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20840" y="327355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006840" y="3273552"/>
            <a:ext cx="192024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98280" y="32735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-89%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20040" y="3895344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38953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Score (Likert)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251960" y="3895344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43400" y="389534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/ 5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3895344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20840" y="389534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/ 5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006840" y="3895344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098280" y="389534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+54%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20040" y="4517136"/>
            <a:ext cx="384048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45171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 Rate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251960" y="4517136"/>
            <a:ext cx="22860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43400" y="45171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629400" y="4517136"/>
            <a:ext cx="228600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20840" y="45171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006840" y="4517136"/>
            <a:ext cx="1920240" cy="566928"/>
          </a:xfrm>
          <a:prstGeom prst="rect">
            <a:avLst/>
          </a:prstGeom>
          <a:solidFill>
            <a:srgbClr val="EBF2FC"/>
          </a:solidFill>
          <a:ln w="12700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098280" y="451713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-76%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778240" y="1536192"/>
            <a:ext cx="3017520" cy="3017520"/>
          </a:xfrm>
          <a:prstGeom prst="ellipse">
            <a:avLst/>
          </a:prstGeom>
          <a:solidFill>
            <a:srgbClr val="EBF2FC"/>
          </a:solidFill>
          <a:ln w="1016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942832" y="1700784"/>
            <a:ext cx="2688336" cy="2688336"/>
          </a:xfrm>
          <a:prstGeom prst="ellipse">
            <a:avLst/>
          </a:prstGeom>
          <a:solidFill>
            <a:srgbClr val="EBF2FC"/>
          </a:solidFill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778240" y="23591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778240" y="274320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</a:t>
            </a:r>
            <a:endParaRPr lang="en-US" sz="5800" dirty="0"/>
          </a:p>
        </p:txBody>
      </p:sp>
      <p:sp>
        <p:nvSpPr>
          <p:cNvPr id="58" name="Text 56"/>
          <p:cNvSpPr/>
          <p:nvPr/>
        </p:nvSpPr>
        <p:spPr>
          <a:xfrm>
            <a:off x="8686800" y="3493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686800" y="3767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(90 days)</a:t>
            </a:r>
            <a:endParaRPr lang="en-US" sz="1000" dirty="0"/>
          </a:p>
        </p:txBody>
      </p:sp>
      <p:graphicFrame>
        <p:nvGraphicFramePr>
          <p:cNvPr id="60" name="Chart 0"/>
          <p:cNvGraphicFramePr/>
          <p:nvPr/>
        </p:nvGraphicFramePr>
        <p:xfrm>
          <a:off x="320040" y="5102352"/>
          <a:ext cx="82296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" name="Text 58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 w="12700">
            <a:solidFill>
              <a:srgbClr val="1A4A8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5029200" cy="6858000"/>
          </a:xfrm>
          <a:prstGeom prst="rect">
            <a:avLst/>
          </a:prstGeom>
          <a:solidFill>
            <a:srgbClr val="1A4A8A">
              <a:alpha val="45000"/>
            </a:srgbClr>
          </a:solidFill>
          <a:ln w="12700">
            <a:solidFill>
              <a:srgbClr val="1A4A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0" y="0"/>
            <a:ext cx="3017520" cy="6858000"/>
          </a:xfrm>
          <a:prstGeom prst="rect">
            <a:avLst/>
          </a:prstGeom>
          <a:solidFill>
            <a:srgbClr val="00BFFF">
              <a:alpha val="18000"/>
            </a:srgbClr>
          </a:solidFill>
          <a:ln w="12700">
            <a:solidFill>
              <a:srgbClr val="00B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6858000" cy="640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0"/>
            <a:ext cx="27432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58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Autonomous.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has proven that Agentic AI can replace</a:t>
            </a:r>
            <a:endParaRPr lang="en-US" sz="15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service desk operations — permanently.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1572768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>
                <a:alpha val="7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176272" y="3474720"/>
            <a:ext cx="1572768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>
                <a:alpha val="7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76272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176272" y="40233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drop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95344" y="3474720"/>
            <a:ext cx="1572768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>
                <a:alpha val="7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95344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895344" y="40233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saving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14416" y="3474720"/>
            <a:ext cx="1572768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FFF">
                <a:alpha val="7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614416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614416" y="40233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met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663440"/>
            <a:ext cx="12161520" cy="1024128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AIFL JAN 2025 GROUP 5 — LEADERS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5047488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ramanath.ramnath@gmail.com   ·   sivanandrao@gmail.com   ·   bharath.pu@gmail.com   ·   pritrivedi30@gmail.com   ·   ritamshome@gmail.com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54589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 Science Project  ·  Version 1.0  ·  Group 5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760720"/>
            <a:ext cx="12161520" cy="594360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29,651-ticket CSV  ·  Kaggle Process Mining (242K events)  ·  UCI ITSM (141K rows)  ·  HuggingFace (61.8K pairs)  ·  All open-source — no hallucinated data</a:t>
            </a:r>
            <a:endParaRPr lang="en-US" sz="900" dirty="0"/>
          </a:p>
        </p:txBody>
      </p:sp>
      <p:pic>
        <p:nvPicPr>
          <p:cNvPr id="28" name="Picture 27" descr="profil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609092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78240" y="395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00BFFF"/>
                </a:solidFill>
              </a:rPr>
              <a:t>Ramnath Kashikar</a:t>
            </a:r>
          </a:p>
        </p:txBody>
      </p:sp>
      <p:pic>
        <p:nvPicPr>
          <p:cNvPr id="30" name="Picture 29" descr="profil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7872" y="1843532"/>
            <a:ext cx="566928" cy="566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69296" y="1545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FFB700"/>
                </a:solidFill>
              </a:rPr>
              <a:t>Sivanand Rao</a:t>
            </a:r>
          </a:p>
        </p:txBody>
      </p:sp>
      <p:pic>
        <p:nvPicPr>
          <p:cNvPr id="32" name="Picture 31" descr="profile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905000"/>
            <a:ext cx="566928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17004" y="16022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00BFFF"/>
                </a:solidFill>
              </a:rPr>
              <a:t>Bharath PU</a:t>
            </a:r>
          </a:p>
        </p:txBody>
      </p:sp>
      <p:pic>
        <p:nvPicPr>
          <p:cNvPr id="34" name="Picture 33" descr="profil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756" y="4005072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70368" y="375818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FFB700"/>
                </a:solidFill>
              </a:rPr>
              <a:t>Priti Trivedi</a:t>
            </a:r>
          </a:p>
        </p:txBody>
      </p:sp>
      <p:pic>
        <p:nvPicPr>
          <p:cNvPr id="36" name="Picture 35" descr="profile_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3990573"/>
            <a:ext cx="566928" cy="5669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25888" y="3707892"/>
            <a:ext cx="20116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50" b="1" i="0" dirty="0">
                <a:solidFill>
                  <a:srgbClr val="00BFFF"/>
                </a:solidFill>
              </a:rPr>
              <a:t>Ritam Shome</a:t>
            </a:r>
            <a:endParaRPr sz="950" b="1" i="0" dirty="0">
              <a:solidFill>
                <a:srgbClr val="00B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D2E5C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Meet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Group 5  ·  Capstone Data Science Project  ·  Project Ninja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365760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2121408" cy="4681728"/>
          </a:xfrm>
          <a:prstGeom prst="rect">
            <a:avLst/>
          </a:prstGeom>
          <a:solidFill>
            <a:srgbClr val="112244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81328"/>
            <a:ext cx="2121408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2084" y="1714500"/>
            <a:ext cx="1508760" cy="1508760"/>
          </a:xfrm>
          <a:prstGeom prst="ellipse">
            <a:avLst/>
          </a:prstGeom>
          <a:noFill/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ro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1760220"/>
            <a:ext cx="14173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87268"/>
            <a:ext cx="19385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700"/>
                </a:solidFill>
              </a:rPr>
              <a:t>Ramnath Kashikar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89604"/>
            <a:ext cx="1755648" cy="2926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89604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Program Manager /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40553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8"/>
                </a:solidFill>
              </a:rPr>
              <a:t>ramanath.ramnath@gmail.com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2615" y="1481328"/>
            <a:ext cx="2121408" cy="46817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42615" y="1481328"/>
            <a:ext cx="2121408" cy="6400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48939" y="1714500"/>
            <a:ext cx="1508760" cy="1508760"/>
          </a:xfrm>
          <a:prstGeom prst="ellipse">
            <a:avLst/>
          </a:prstGeom>
          <a:noFill/>
          <a:ln w="25400">
            <a:solidFill>
              <a:srgbClr val="0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rofil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60" y="1760220"/>
            <a:ext cx="1417320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34056" y="3287268"/>
            <a:ext cx="19385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EFF"/>
                </a:solidFill>
              </a:rPr>
              <a:t>Sivanand Rao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25496" y="3689604"/>
            <a:ext cx="1755648" cy="29260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25496" y="3689604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Snowflake Data Architect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40553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8"/>
                </a:solidFill>
              </a:rPr>
              <a:t>sivanandrao@gmail.com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1481328"/>
            <a:ext cx="2121408" cy="46817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19472" y="1481328"/>
            <a:ext cx="2121408" cy="64008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25796" y="1714500"/>
            <a:ext cx="1508760" cy="1508760"/>
          </a:xfrm>
          <a:prstGeom prst="ellipse">
            <a:avLst/>
          </a:prstGeom>
          <a:noFill/>
          <a:ln w="25400">
            <a:solidFill>
              <a:srgbClr val="00C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rofil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516" y="1760220"/>
            <a:ext cx="141732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10912" y="3287268"/>
            <a:ext cx="19385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75"/>
                </a:solidFill>
              </a:rPr>
              <a:t>Bharath 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02352" y="3689604"/>
            <a:ext cx="1755648" cy="292608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02352" y="3689604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ML / AI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4336" y="40553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8"/>
                </a:solidFill>
              </a:rPr>
              <a:t>bharath.pu@gmail.com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96327" y="1481328"/>
            <a:ext cx="2121408" cy="4681728"/>
          </a:xfrm>
          <a:prstGeom prst="rect">
            <a:avLst/>
          </a:prstGeom>
          <a:solidFill>
            <a:srgbClr val="112244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96327" y="1481328"/>
            <a:ext cx="2121408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502652" y="1714500"/>
            <a:ext cx="1508760" cy="1508760"/>
          </a:xfrm>
          <a:prstGeom prst="ellipse">
            <a:avLst/>
          </a:prstGeom>
          <a:noFill/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profile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371" y="1760220"/>
            <a:ext cx="1417320" cy="1417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87767" y="3287268"/>
            <a:ext cx="19385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700"/>
                </a:solidFill>
              </a:rPr>
              <a:t>Priti Trivedi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79207" y="3689604"/>
            <a:ext cx="1755648" cy="2926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79207" y="3689604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Conversational AI Specialist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1" y="40553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8"/>
                </a:solidFill>
              </a:rPr>
              <a:t>pritrivedi30@gmail.com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73184" y="1481328"/>
            <a:ext cx="2121408" cy="4681728"/>
          </a:xfrm>
          <a:prstGeom prst="rect">
            <a:avLst/>
          </a:prstGeom>
          <a:solidFill>
            <a:srgbClr val="112244"/>
          </a:solidFill>
          <a:ln w="12700">
            <a:solidFill>
              <a:srgbClr val="A5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73184" y="1481328"/>
            <a:ext cx="2121408" cy="64008"/>
          </a:xfrm>
          <a:prstGeom prst="rect">
            <a:avLst/>
          </a:prstGeom>
          <a:solidFill>
            <a:srgbClr val="A5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779508" y="1714500"/>
            <a:ext cx="1508760" cy="1508760"/>
          </a:xfrm>
          <a:prstGeom prst="ellipse">
            <a:avLst/>
          </a:prstGeom>
          <a:noFill/>
          <a:ln w="25400">
            <a:solidFill>
              <a:srgbClr val="A5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profile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228" y="1760220"/>
            <a:ext cx="1417320" cy="1417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64624" y="3287268"/>
            <a:ext cx="19385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A555F7"/>
                </a:solidFill>
              </a:rPr>
              <a:t>Ritam Shome</a:t>
            </a:r>
            <a:endParaRPr sz="1200" b="1" i="0" dirty="0">
              <a:solidFill>
                <a:srgbClr val="A555F7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656063" y="3689604"/>
            <a:ext cx="1755648" cy="292608"/>
          </a:xfrm>
          <a:prstGeom prst="rect">
            <a:avLst/>
          </a:prstGeom>
          <a:solidFill>
            <a:srgbClr val="A5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56063" y="3689604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Data Governance &amp; 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0553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8"/>
                </a:solidFill>
              </a:rPr>
              <a:t>ritamshome@gmail.com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27648"/>
            <a:ext cx="12192000" cy="530352"/>
          </a:xfrm>
          <a:prstGeom prst="rect">
            <a:avLst/>
          </a:prstGeom>
          <a:solidFill>
            <a:srgbClr val="0D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6327648"/>
            <a:ext cx="1146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Project Ninja  ·  Transforming Service Desks with Agentic AI  ·  90%+ Autonomous Resolution  ·  $750K+ Annual Saving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2167</Words>
  <Application>Microsoft Macintosh PowerPoint</Application>
  <PresentationFormat>Widescreen</PresentationFormat>
  <Paragraphs>533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Ninja: Agentic AI Ninja Command Center</dc:title>
  <dc:subject>PptxGenJS Presentation</dc:subject>
  <dc:creator>Group 5 — Project Ninja</dc:creator>
  <cp:lastModifiedBy>Ritam Shome</cp:lastModifiedBy>
  <cp:revision>12</cp:revision>
  <dcterms:created xsi:type="dcterms:W3CDTF">2026-05-15T19:15:56Z</dcterms:created>
  <dcterms:modified xsi:type="dcterms:W3CDTF">2026-05-15T20:14:16Z</dcterms:modified>
</cp:coreProperties>
</file>