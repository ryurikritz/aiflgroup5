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6-Month Build ($K)</c:v>
                </c:pt>
              </c:strCache>
            </c:strRef>
          </c:tx>
          <c:spPr>
            <a:solidFill>
              <a:srgbClr val="D6A02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Snowflake Cortex</c:v>
                </c:pt>
                <c:pt idx="1">
                  <c:v>Azure GPT-4o</c:v>
                </c:pt>
                <c:pt idx="2">
                  <c:v>Claude 3.5</c:v>
                </c:pt>
                <c:pt idx="3">
                  <c:v>Infra/DevOps</c:v>
                </c:pt>
                <c:pt idx="4">
                  <c:v>People (8 roles)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</c:v>
                </c:pt>
                <c:pt idx="1">
                  <c:v>15</c:v>
                </c:pt>
                <c:pt idx="2">
                  <c:v>8</c:v>
                </c:pt>
                <c:pt idx="3">
                  <c:v>11</c:v>
                </c:pt>
                <c:pt idx="4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CD-DB4A-971D-9B7227F87D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Annual Ops ($K)</c:v>
                </c:pt>
              </c:strCache>
            </c:strRef>
          </c:tx>
          <c:spPr>
            <a:solidFill>
              <a:srgbClr val="00AAD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Snowflake Cortex</c:v>
                </c:pt>
                <c:pt idx="1">
                  <c:v>Azure GPT-4o</c:v>
                </c:pt>
                <c:pt idx="2">
                  <c:v>Claude 3.5</c:v>
                </c:pt>
                <c:pt idx="3">
                  <c:v>Infra/DevOps</c:v>
                </c:pt>
                <c:pt idx="4">
                  <c:v>People (8 roles)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</c:v>
                </c:pt>
                <c:pt idx="1">
                  <c:v>6</c:v>
                </c:pt>
                <c:pt idx="2">
                  <c:v>3</c:v>
                </c:pt>
                <c:pt idx="3">
                  <c:v>4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ECD-DB4A-971D-9B7227F87DD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6443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microsoft.com/office/2007/relationships/media" Target="../media/media2.mp4"/><Relationship Id="rId7" Type="http://schemas.openxmlformats.org/officeDocument/2006/relationships/image" Target="../media/image15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2.mp4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microsoft.com/office/2007/relationships/media" Target="../media/media4.mp4"/><Relationship Id="rId7" Type="http://schemas.openxmlformats.org/officeDocument/2006/relationships/image" Target="../media/image17.pn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4.mp4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4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5.png"/><Relationship Id="rId10" Type="http://schemas.openxmlformats.org/officeDocument/2006/relationships/image" Target="../media/image27.png"/><Relationship Id="rId4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760720" y="777240"/>
            <a:ext cx="868680" cy="86868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0" y="758952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37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437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NINJA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Ninja Command Center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Intelligent Sentinel for Autonomous IT Operations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25880" y="40233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2588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Cortex AI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867912" y="40233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67912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Orchestration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9944" y="40233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9944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+ Claude 3.5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951976" y="40233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951976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 Auto-Resolution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Final  ·  MVP Presentation  ·  Version 1.0  ·  Group 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54864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29,651 real IT support tickets  ·  No synthetic data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08760" y="15544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&amp; Vision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08760" y="24688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08760" y="33832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at a Glance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2976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4297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508760" y="42976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Specialist Agents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52120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5212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508760" y="52120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Holistic Workflow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434840" y="15544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303520" y="15544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Routing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434840" y="24688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0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303520" y="24688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on Real Tickets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434840" y="33832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0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5303520" y="33832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Data Core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434840" y="42976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0" y="4297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303520" y="42976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— The 10% Gateway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4434840" y="52120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0" y="5212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5303520" y="52120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UX: User Wow Moment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8229600" y="15544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36676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9098280" y="15544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UX: Admin as Supervisor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8229600" y="24688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366760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9098280" y="24688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vs. Humans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8229600" y="33832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366760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9098280" y="33832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ROI &amp; Break-Even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8229600" y="42976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366760" y="4297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9098280" y="42976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Phase-2 Expansion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8229600" y="52120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366760" y="5212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9098280" y="52120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Market, Competition &amp; Ask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DESCRIPTION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NinjaOps AI — Vision, Mission &amp; Goals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486400" cy="1828800"/>
          </a:xfrm>
          <a:prstGeom prst="roundRect">
            <a:avLst>
              <a:gd name="adj" fmla="val 3500"/>
            </a:avLst>
          </a:prstGeom>
          <a:solidFill>
            <a:srgbClr val="0A1628"/>
          </a:solidFill>
          <a:ln/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become the world’s most trusted Agentic AI Operations platform — turning every IT service desk from a reactive cost centre into an autonomous, self-healing intelligence engine.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422392" cy="1828800"/>
          </a:xfrm>
          <a:prstGeom prst="roundRect">
            <a:avLst>
              <a:gd name="adj" fmla="val 3500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4652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205740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90%+ of enterprise IT incidents autonomously — 24/7, with full audit trail and human override.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immovable principles: Human Authority First · No Hallucination · Compounding Intelligence.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54864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49808" y="3813048"/>
            <a:ext cx="566928" cy="566928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0" descr="/tmp/assets/ic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931920"/>
            <a:ext cx="329184" cy="32918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463040" y="3794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Goals (0–12 mo)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463040" y="41788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MVP on 29,651 real tickets at 90%+ autonomous resolution · Break-even Month 8–9 · 127% Year-1 ROI · first enterprise pilot.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217920" y="3611880"/>
            <a:ext cx="542239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419088" y="3813048"/>
            <a:ext cx="566928" cy="566928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/tmp/assets/ic_roc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3931920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132320" y="379476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Goals (Years 2–5)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7132320" y="4178808"/>
            <a:ext cx="4325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95–97% autonomy · expand to FinOps, SecOps, HR &amp; Procurement · $1.46M 5-yr saving · Snowflake Native App.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focus: Enterprise IT Service Management for 80,000–140,000-user (post-acquisition) environments.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Fragmented IT Estate Bleeding $750K / Year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a corporate acquisition (~140,000 combined users), the CTO inherited siloed tools — ServiceNow, Datadog, Dynatrace and proprietary CMDBs — with three compounding pain points: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3602736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3602736" cy="109728"/>
          </a:xfrm>
          <a:prstGeom prst="rect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2514600"/>
            <a:ext cx="640080" cy="64008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/tmp/assets/ic_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5176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54480" y="25420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Fatigue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22960" y="3246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overlapping tools — engineers ignore ~40% of alerts.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C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$380K/yr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22960" y="43708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waste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352544" y="2240280"/>
            <a:ext cx="3602736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352544" y="2240280"/>
            <a:ext cx="3602736" cy="109728"/>
          </a:xfrm>
          <a:prstGeom prst="rect">
            <a:avLst/>
          </a:prstGeom>
          <a:solidFill>
            <a:srgbClr val="DC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581144" y="2514600"/>
            <a:ext cx="640080" cy="64008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1" descr="/tmp/assets/ic_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4" y="265176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358384" y="25420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Tier-1 Triage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4626864" y="3246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hr avg MTTR; 18% SLA breach on L1/L2.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626864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C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$210K/yr</a:t>
            </a:r>
            <a:endParaRPr lang="en-US" sz="2400" dirty="0"/>
          </a:p>
        </p:txBody>
      </p:sp>
      <p:sp>
        <p:nvSpPr>
          <p:cNvPr id="22" name="Text 18"/>
          <p:cNvSpPr/>
          <p:nvPr/>
        </p:nvSpPr>
        <p:spPr>
          <a:xfrm>
            <a:off x="4626864" y="43708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penalties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8156448" y="2240280"/>
            <a:ext cx="3602736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8156448" y="2240280"/>
            <a:ext cx="3602736" cy="109728"/>
          </a:xfrm>
          <a:prstGeom prst="rect">
            <a:avLst/>
          </a:prstGeom>
          <a:solidFill>
            <a:srgbClr val="00AA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8385048" y="2514600"/>
            <a:ext cx="640080" cy="64008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2" descr="/tmp/assets/ic_d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08" y="2651760"/>
            <a:ext cx="365760" cy="36576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162288" y="25420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Knowledge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8430768" y="3246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source — 34% incident recurrence.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8430768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AA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$160K/yr</a:t>
            </a:r>
            <a:endParaRPr lang="en-US" sz="2400" dirty="0"/>
          </a:p>
        </p:txBody>
      </p:sp>
      <p:sp>
        <p:nvSpPr>
          <p:cNvPr id="30" name="Text 25"/>
          <p:cNvSpPr/>
          <p:nvPr/>
        </p:nvSpPr>
        <p:spPr>
          <a:xfrm>
            <a:off x="8430768" y="43708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cost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548640" y="484632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548640" y="48463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quantified cost of inaction:  </a:t>
            </a:r>
            <a:r>
              <a:rPr lang="en-US" sz="1800" b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~$750K every year</a:t>
            </a:r>
            <a:endParaRPr lang="en-US" sz="1400" dirty="0"/>
          </a:p>
        </p:txBody>
      </p:sp>
      <p:sp>
        <p:nvSpPr>
          <p:cNvPr id="33" name="Text 28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at a Glance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AI agents. One platform. Zero manual triage.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3602736" cy="2286000"/>
          </a:xfrm>
          <a:prstGeom prst="roundRect">
            <a:avLst>
              <a:gd name="adj" fmla="val 3200"/>
            </a:avLst>
          </a:prstGeom>
          <a:solidFill>
            <a:srgbClr val="13243D"/>
          </a:solidFill>
          <a:ln w="19050">
            <a:solidFill>
              <a:srgbClr val="00AAD2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892808" y="2011680"/>
            <a:ext cx="914400" cy="9144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0A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/tmp/assets/ic_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1408" y="224028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301752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A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3291840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IT incident resolution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" y="3703320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multi-agent AI + Snowflake Cortex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52544" y="1783080"/>
            <a:ext cx="3602736" cy="2286000"/>
          </a:xfrm>
          <a:prstGeom prst="roundRect">
            <a:avLst>
              <a:gd name="adj" fmla="val 3200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696712" y="2011680"/>
            <a:ext cx="914400" cy="9144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/tmp/assets/ic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312" y="224028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52544" y="301752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535424" y="3291840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Confidence-gated HITL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535424" y="3703320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routing paths: autonomous · approval · escalation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156448" y="1783080"/>
            <a:ext cx="3602736" cy="2286000"/>
          </a:xfrm>
          <a:prstGeom prst="roundRect">
            <a:avLst>
              <a:gd name="adj" fmla="val 3200"/>
            </a:avLst>
          </a:prstGeom>
          <a:solidFill>
            <a:srgbClr val="13243D"/>
          </a:solidFill>
          <a:ln w="19050">
            <a:solidFill>
              <a:srgbClr val="00C39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9500616" y="2011680"/>
            <a:ext cx="914400" cy="9144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0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/tmp/assets/ic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9216" y="224028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156448" y="301752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8339328" y="3291840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 auto-resolution; MTTR −74%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8339328" y="3703320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AI with engineer oversight, 24/7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548640" y="4343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Identify  →  Detect  →  Recover  →  Prevent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548640" y="4800600"/>
            <a:ext cx="2697480" cy="109728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640080" y="4864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C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29" name="Text 24"/>
          <p:cNvSpPr/>
          <p:nvPr/>
        </p:nvSpPr>
        <p:spPr>
          <a:xfrm>
            <a:off x="685800" y="52303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/ Endpoints, Network &amp; Cloud signals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3346704" y="4800600"/>
            <a:ext cx="2697480" cy="109728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3438144" y="4864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C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32" name="Text 27"/>
          <p:cNvSpPr/>
          <p:nvPr/>
        </p:nvSpPr>
        <p:spPr>
          <a:xfrm>
            <a:off x="3483864" y="52303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ML + RAG anomaly detection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6144768" y="4800600"/>
            <a:ext cx="2697480" cy="109728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6236208" y="4864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C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35" name="Text 30"/>
          <p:cNvSpPr/>
          <p:nvPr/>
        </p:nvSpPr>
        <p:spPr>
          <a:xfrm>
            <a:off x="6281928" y="52303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remediation via live tool APIs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8942832" y="4800600"/>
            <a:ext cx="2697480" cy="109728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2"/>
          <p:cNvSpPr/>
          <p:nvPr/>
        </p:nvSpPr>
        <p:spPr>
          <a:xfrm>
            <a:off x="9034272" y="4864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C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38" name="Text 33"/>
          <p:cNvSpPr/>
          <p:nvPr/>
        </p:nvSpPr>
        <p:spPr>
          <a:xfrm>
            <a:off x="9079992" y="52303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Fine-Tune prevents recurrence</a:t>
            </a:r>
            <a:endParaRPr lang="en-US" sz="1050" dirty="0"/>
          </a:p>
        </p:txBody>
      </p:sp>
      <p:sp>
        <p:nvSpPr>
          <p:cNvPr id="39" name="Text 3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AGENTS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Specialist Agents Under One Supervisor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pic>
        <p:nvPicPr>
          <p:cNvPr id="6" name="Image 0" descr="/tmp/assets/diagram_ag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11155680" cy="4572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ALL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Holistic End-to-End Solution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pic>
        <p:nvPicPr>
          <p:cNvPr id="6" name="Image 0" descr="/tmp/assets/diagram_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71600"/>
            <a:ext cx="11155680" cy="4663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Confidence-Gated Routing — Three Paths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pic>
        <p:nvPicPr>
          <p:cNvPr id="6" name="Image 0" descr="/tmp/assets/diagram_rou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10881360" cy="4572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ROUTING EXPERIMENT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— 3 Real Tickets from the CSV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091672" cy="1371600"/>
          </a:xfrm>
          <a:prstGeom prst="roundRect">
            <a:avLst>
              <a:gd name="adj" fmla="val 4000"/>
            </a:avLst>
          </a:prstGeom>
          <a:solidFill>
            <a:srgbClr val="13243D"/>
          </a:solidFill>
          <a:ln w="19050">
            <a:solidFill>
              <a:srgbClr val="3FAE5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600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 #0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Support · HIGH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56616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0.85 + 3×0.03 + 5×0.01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2240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formula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675120" y="16459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FAE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0.99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8229600" y="178308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3FA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0" y="1783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921240" y="17373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Alan resolves — zero human touch · MTTR &lt;10 min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11091672" cy="1371600"/>
          </a:xfrm>
          <a:prstGeom prst="roundRect">
            <a:avLst>
              <a:gd name="adj" fmla="val 4000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3108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 #1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77240" y="3611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&amp; Exchanges · MEDIUM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566160" y="3154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0.70 + 0×0.03 + 3×0.01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66160" y="3749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formula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75120" y="31546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0.73</a:t>
            </a:r>
            <a:endParaRPr lang="en-US" sz="3400" dirty="0"/>
          </a:p>
        </p:txBody>
      </p:sp>
      <p:sp>
        <p:nvSpPr>
          <p:cNvPr id="22" name="Shape 20"/>
          <p:cNvSpPr/>
          <p:nvPr/>
        </p:nvSpPr>
        <p:spPr>
          <a:xfrm>
            <a:off x="8229600" y="329184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D6A0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29600" y="3291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GATE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921240" y="32461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pauses · engineer approves in ~45s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480560"/>
            <a:ext cx="11091672" cy="1371600"/>
          </a:xfrm>
          <a:prstGeom prst="roundRect">
            <a:avLst>
              <a:gd name="adj" fmla="val 4000"/>
            </a:avLst>
          </a:prstGeom>
          <a:solidFill>
            <a:srgbClr val="13243D"/>
          </a:solidFill>
          <a:ln w="19050">
            <a:solidFill>
              <a:srgbClr val="DC4444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" y="4617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 #2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77240" y="5120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Payments · LOW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566160" y="4663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0.55 + 0×0.03 + 5×0.01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566160" y="5257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formula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675120" y="46634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C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0.60</a:t>
            </a:r>
            <a:endParaRPr lang="en-US" sz="3400" dirty="0"/>
          </a:p>
        </p:txBody>
      </p:sp>
      <p:sp>
        <p:nvSpPr>
          <p:cNvPr id="31" name="Shape 29"/>
          <p:cNvSpPr/>
          <p:nvPr/>
        </p:nvSpPr>
        <p:spPr>
          <a:xfrm>
            <a:off x="8229600" y="480060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DC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229600" y="4800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921240" y="475488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 + AI context bundle → training pipeline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formula derived from CSV columns only; production replaces it with a Cortex ML classifier at 97.1% F1.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· FEATURE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29,651 Real Tickets → 11 Engineered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pic>
        <p:nvPicPr>
          <p:cNvPr id="6" name="Image 0" descr="/tmp/assets/fig_prio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5394960" cy="3108960"/>
          </a:xfrm>
          <a:prstGeom prst="rect">
            <a:avLst/>
          </a:prstGeom>
        </p:spPr>
      </p:pic>
      <p:pic>
        <p:nvPicPr>
          <p:cNvPr id="7" name="Image 1" descr="/tmp/assets/fig_de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508760"/>
            <a:ext cx="5486400" cy="31089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46177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high 11,512 · medium 12,126 · low 6,013  |  Top dept: Technical Support (8,617).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48640" y="4983480"/>
            <a:ext cx="11091672" cy="1005840"/>
          </a:xfrm>
          <a:prstGeom prst="roundRect">
            <a:avLst>
              <a:gd name="adj" fmla="val 5455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777240" y="50749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ENGINEERED FEATURES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77240" y="534924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A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body_length · word_count · sentence_count · avg_word_length · has_question · urgency_keywords · politeness_score · priority_numeric · tags_list · tag_count · has_outage_tag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LangGraph Pipeline + Snowflake Knowledge Core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4023360" cy="44805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5727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LangGraph pipeline</a:t>
            </a:r>
            <a:endParaRPr lang="en-US" sz="1200" dirty="0"/>
          </a:p>
        </p:txBody>
      </p:sp>
      <p:pic>
        <p:nvPicPr>
          <p:cNvPr id="8" name="Image 0" descr="/tmp/assets/fig_lang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920240"/>
            <a:ext cx="3108960" cy="3931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846320" y="14630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Knowledge DWH — Schema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846320" y="1828800"/>
            <a:ext cx="6793992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983480" y="18288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A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incidents_raw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0" y="182880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JSON ingest (append-only)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46320" y="2542032"/>
            <a:ext cx="6793992" cy="658368"/>
          </a:xfrm>
          <a:prstGeom prst="roundRect">
            <a:avLst>
              <a:gd name="adj" fmla="val 6944"/>
            </a:avLst>
          </a:prstGeom>
          <a:solidFill>
            <a:srgbClr val="EAF1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983480" y="254203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A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incidents_enriched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15200" y="254203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table — category, priority, CI, resolution time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46320" y="3255264"/>
            <a:ext cx="6793992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983480" y="325526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A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knowledge_articles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315200" y="3255264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Search vector index over 14,000+ KB articles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846320" y="3968496"/>
            <a:ext cx="6793992" cy="658368"/>
          </a:xfrm>
          <a:prstGeom prst="roundRect">
            <a:avLst>
              <a:gd name="adj" fmla="val 6944"/>
            </a:avLst>
          </a:prstGeom>
          <a:solidFill>
            <a:srgbClr val="EAF1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983480" y="396849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A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resolution_vectors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315200" y="396849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1024-dim embeddings for similarity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846320" y="4681728"/>
            <a:ext cx="6793992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983480" y="468172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A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ml_training_buffer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315200" y="468172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Arctic retraining via FINETUNE()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846320" y="5394960"/>
            <a:ext cx="6793992" cy="658368"/>
          </a:xfrm>
          <a:prstGeom prst="roundRect">
            <a:avLst>
              <a:gd name="adj" fmla="val 6944"/>
            </a:avLst>
          </a:prstGeom>
          <a:solidFill>
            <a:srgbClr val="EAF1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983480" y="53949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A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audit_log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315200" y="539496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action, score &amp; HITL decision — GDPR trail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HITL — The 10% Gateway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Authority First — engineers retain override authority at every stage; agents act autonomously only where confidence is provably high (≥0.90).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13243D"/>
          </a:solidFill>
          <a:ln w="19050">
            <a:solidFill>
              <a:srgbClr val="3FAE5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128016" cy="1234440"/>
          </a:xfrm>
          <a:prstGeom prst="rect">
            <a:avLst/>
          </a:prstGeom>
          <a:solidFill>
            <a:srgbClr val="3FA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2057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Silent Monitoring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68680" y="2606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A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 0.90–0.99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0" y="2103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acts; engineer notified post-hoc via Teams + Snowflake audit log. Reviews and flags misses.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128016" cy="1234440"/>
          </a:xfrm>
          <a:prstGeom prst="rect">
            <a:avLst/>
          </a:prstGeom>
          <a:solidFill>
            <a:srgbClr val="D6A0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3383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Approval Gate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68680" y="3931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A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 0.70–0.89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0" y="3429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drafts plan; LangGraph interrupt_before pauses. Engineer clicks Approve / Modify / Reject (~45s).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57200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13243D"/>
          </a:solidFill>
          <a:ln w="19050">
            <a:solidFill>
              <a:srgbClr val="DC4444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4572000"/>
            <a:ext cx="128016" cy="1234440"/>
          </a:xfrm>
          <a:prstGeom prst="rect">
            <a:avLst/>
          </a:prstGeom>
          <a:solidFill>
            <a:srgbClr val="DC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" y="4709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Escalation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68680" y="5257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 &lt; 0.70  or  P1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0" y="47548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 + AI context bundle (log tail, similar incidents, hypothesis). Engineer resolves → new runbook.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080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approval, modification or rejection feeds the weekly FINETUNE() — well-trained supervisors directly raise the autonomous rate.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 · BEFORE &amp; AFTER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Outage — Without vs. With Ninja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Text 5"/>
          <p:cNvSpPr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same 2 A.M. portal outage play out two ways — the manual struggle, then the autonomous “wow.” Press play on each clip.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5486400" cy="4297680"/>
          </a:xfrm>
          <a:prstGeom prst="roundRect">
            <a:avLst>
              <a:gd name="adj" fmla="val 1489"/>
            </a:avLst>
          </a:prstGeom>
          <a:solidFill>
            <a:srgbClr val="13243D"/>
          </a:solidFill>
          <a:ln w="25400">
            <a:solidFill>
              <a:srgbClr val="DC4444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20116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DC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011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— NINJA</a:t>
            </a:r>
            <a:endParaRPr lang="en-US" sz="1300" dirty="0"/>
          </a:p>
        </p:txBody>
      </p:sp>
      <p:pic>
        <p:nvPicPr>
          <p:cNvPr id="11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77240" y="2606040"/>
            <a:ext cx="4937760" cy="277977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7240" y="5486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2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47-min hold · no ticket · manual escalation · “maybe by morning.”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3520440"/>
            <a:ext cx="640080" cy="868680"/>
          </a:xfrm>
          <a:prstGeom prst="chevron">
            <a:avLst/>
          </a:prstGeom>
          <a:solidFill>
            <a:srgbClr val="D6A0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989320" y="45720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0C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766560" y="1783080"/>
            <a:ext cx="4919472" cy="4297680"/>
          </a:xfrm>
          <a:prstGeom prst="roundRect">
            <a:avLst>
              <a:gd name="adj" fmla="val 1489"/>
            </a:avLst>
          </a:prstGeom>
          <a:solidFill>
            <a:srgbClr val="13243D"/>
          </a:solidFill>
          <a:ln w="25400">
            <a:solidFill>
              <a:srgbClr val="3FAE5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040880" y="201168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3FA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040880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— NINJA</a:t>
            </a:r>
            <a:endParaRPr lang="en-US" sz="1300" dirty="0"/>
          </a:p>
        </p:txBody>
      </p:sp>
      <p:pic>
        <p:nvPicPr>
          <p:cNvPr id="18" name="Media 1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040880" y="2606040"/>
            <a:ext cx="4370832" cy="245973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040880" y="5166360"/>
            <a:ext cx="4370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F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in &lt; 1s · conf 0.99 · auto-restored · zero human touch — “you’re all set.”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EXPERIENCE · BEFORE &amp; AFTER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SSL Crisis — Without vs. With Agent Ada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Text 5"/>
          <p:cNvSpPr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expiring production certificate, two nights apart — the 3 A.M. scramble, then the calm HITL approval. Press play on each clip.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5486400" cy="4297680"/>
          </a:xfrm>
          <a:prstGeom prst="roundRect">
            <a:avLst>
              <a:gd name="adj" fmla="val 1489"/>
            </a:avLst>
          </a:prstGeom>
          <a:solidFill>
            <a:srgbClr val="13243D"/>
          </a:solidFill>
          <a:ln w="25400">
            <a:solidFill>
              <a:srgbClr val="DC4444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201168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DC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011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— AGENT ADA</a:t>
            </a:r>
            <a:endParaRPr lang="en-US" sz="1250" dirty="0"/>
          </a:p>
        </p:txBody>
      </p:sp>
      <p:pic>
        <p:nvPicPr>
          <p:cNvPr id="11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77240" y="2606040"/>
            <a:ext cx="4937760" cy="277977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7240" y="5486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2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Paged at 3 A.M. · cert expired · fragile script · no rollback · alone.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3520440"/>
            <a:ext cx="640080" cy="868680"/>
          </a:xfrm>
          <a:prstGeom prst="chevron">
            <a:avLst/>
          </a:prstGeom>
          <a:solidFill>
            <a:srgbClr val="D6A0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989320" y="45720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0C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766560" y="1783080"/>
            <a:ext cx="4919472" cy="4297680"/>
          </a:xfrm>
          <a:prstGeom prst="roundRect">
            <a:avLst>
              <a:gd name="adj" fmla="val 1489"/>
            </a:avLst>
          </a:prstGeom>
          <a:solidFill>
            <a:srgbClr val="13243D"/>
          </a:solidFill>
          <a:ln w="25400">
            <a:solidFill>
              <a:srgbClr val="3FAE5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040880" y="2011680"/>
            <a:ext cx="2697480" cy="457200"/>
          </a:xfrm>
          <a:prstGeom prst="roundRect">
            <a:avLst>
              <a:gd name="adj" fmla="val 50000"/>
            </a:avLst>
          </a:prstGeom>
          <a:solidFill>
            <a:srgbClr val="3FA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040880" y="20116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— AGENT ADA</a:t>
            </a:r>
            <a:endParaRPr lang="en-US" sz="1250" dirty="0"/>
          </a:p>
        </p:txBody>
      </p:sp>
      <p:pic>
        <p:nvPicPr>
          <p:cNvPr id="18" name="Media 1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040880" y="2606040"/>
            <a:ext cx="4370832" cy="245973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040880" y="5166360"/>
            <a:ext cx="4370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F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48h early · plan + rollback · conf 0.88 · admin approves in ~45s — HITL.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AI vs. Human Engineers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4535424"/>
        </p:xfrm>
        <a:graphic>
          <a:graphicData uri="http://schemas.openxmlformats.org/drawingml/2006/table">
            <a:tbl>
              <a:tblPr/>
              <a:tblGrid>
                <a:gridCol w="5605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0C24A"/>
                          </a:solidFill>
                        </a:rPr>
                        <a:t>Dimension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A8C8F0"/>
                          </a:solidFill>
                        </a:rPr>
                        <a:t>Human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Ninja v1.0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Delta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Avg. MTTR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4.2 hours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A1628"/>
                          </a:solidFill>
                        </a:rPr>
                        <a:t>1.1 hours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−74%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Tickets resolved without human touch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~15%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A1628"/>
                          </a:solidFill>
                        </a:rPr>
                        <a:t>90%+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+75 ppt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24/7 coverage (FTE)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12 FTEs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A1628"/>
                          </a:solidFill>
                        </a:rPr>
                        <a:t>3 FTEs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−75%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SLA adherence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72%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A1628"/>
                          </a:solidFill>
                        </a:rPr>
                        <a:t>93%+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+21 ppt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Alert-to-action latency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18–40 min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A1628"/>
                          </a:solidFill>
                        </a:rPr>
                        <a:t>&lt; 90 sec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−98%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Repeat incident rate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34%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A1628"/>
                          </a:solidFill>
                        </a:rPr>
                        <a:t>&lt; 8%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−76%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Engineer satisfaction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2.8 / 5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A1628"/>
                          </a:solidFill>
                        </a:rPr>
                        <a:t>4.3 / 5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+54%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grounded in analogous enterprise AI-Ops deployments (Capgemini/Snowflake Cortex 2025; ServiceNow AI Agents 2024–25).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6-Month Investment &amp; Annual Run Cost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554480"/>
          <a:ext cx="69494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772400" y="155448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72400" y="1664208"/>
            <a:ext cx="38404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$100K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7882128" y="2233422"/>
            <a:ext cx="3621024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initial investment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0" y="292608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13243D"/>
          </a:solidFill>
          <a:ln w="19050">
            <a:solidFill>
              <a:srgbClr val="00AAD2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772400" y="3035808"/>
            <a:ext cx="38404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AA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~$41K/yr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7882128" y="3605022"/>
            <a:ext cx="3621024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run cost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772400" y="429768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13243D"/>
          </a:solidFill>
          <a:ln w="19050">
            <a:solidFill>
              <a:srgbClr val="3FAE5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772400" y="4407408"/>
            <a:ext cx="38404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FAE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$1.46M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7882128" y="4976622"/>
            <a:ext cx="3621024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5-yr cumulative saving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drivers: $380K/yr alert waste · $210K/yr SLA penalties · $160K/yr rework · $712K/yr FTE reduction.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INVESTMENT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Break-Even &amp; 5-Year ROI Trajectory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pic>
        <p:nvPicPr>
          <p:cNvPr id="6" name="Image 0" descr="/tmp/assets/fig_ro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7315200" cy="3108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38160" y="150876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138160" y="1618488"/>
            <a:ext cx="34747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8–9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247888" y="2036826"/>
            <a:ext cx="325526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break-even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138160" y="260604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13243D"/>
          </a:solidFill>
          <a:ln w="19050">
            <a:solidFill>
              <a:srgbClr val="3FAE5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138160" y="2715768"/>
            <a:ext cx="34747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FAE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127%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8247888" y="3134106"/>
            <a:ext cx="325526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ROI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138160" y="370332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13243D"/>
          </a:solidFill>
          <a:ln w="19050">
            <a:solidFill>
              <a:srgbClr val="00AAD2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38160" y="38130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A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$1.46M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8247888" y="4206240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5-yr cumulative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4800600"/>
            <a:ext cx="1783080" cy="1051560"/>
          </a:xfrm>
          <a:prstGeom prst="roundRect">
            <a:avLst>
              <a:gd name="adj" fmla="val 4348"/>
            </a:avLst>
          </a:prstGeom>
          <a:solidFill>
            <a:srgbClr val="EAF1FB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40080" y="4892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(M1)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40080" y="53675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~$15–20K · no saving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423160" y="4800600"/>
            <a:ext cx="1783080" cy="1051560"/>
          </a:xfrm>
          <a:prstGeom prst="roundRect">
            <a:avLst>
              <a:gd name="adj" fmla="val 4348"/>
            </a:avLst>
          </a:prstGeom>
          <a:solidFill>
            <a:srgbClr val="EAF1FB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2514600" y="4892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prep (M2)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2514600" y="53675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~$35–50K · no saving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297680" y="4800600"/>
            <a:ext cx="1783080" cy="1051560"/>
          </a:xfrm>
          <a:prstGeom prst="roundRect">
            <a:avLst>
              <a:gd name="adj" fmla="val 4348"/>
            </a:avLst>
          </a:prstGeom>
          <a:solidFill>
            <a:srgbClr val="EAF1FB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389120" y="4892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build (M3)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389120" y="53675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~$55–80K · no saving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172200" y="4800600"/>
            <a:ext cx="1783080" cy="1051560"/>
          </a:xfrm>
          <a:prstGeom prst="roundRect">
            <a:avLst>
              <a:gd name="adj" fmla="val 4348"/>
            </a:avLst>
          </a:prstGeom>
          <a:solidFill>
            <a:srgbClr val="EAF1FB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263640" y="4892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+ HITL (M4–5)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263640" y="53675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only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8046720" y="4800600"/>
            <a:ext cx="1783080" cy="1051560"/>
          </a:xfrm>
          <a:prstGeom prst="roundRect">
            <a:avLst>
              <a:gd name="adj" fmla="val 4348"/>
            </a:avLst>
          </a:prstGeom>
          <a:solidFill>
            <a:srgbClr val="0A1628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8138160" y="4892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(M6)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138160" y="53675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begin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9921240" y="4800600"/>
            <a:ext cx="1783080" cy="1051560"/>
          </a:xfrm>
          <a:prstGeom prst="roundRect">
            <a:avLst>
              <a:gd name="adj" fmla="val 4348"/>
            </a:avLst>
          </a:prstGeom>
          <a:solidFill>
            <a:srgbClr val="0A1628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10012680" y="4892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(M8–9)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10012680" y="53675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 recovered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Expansion — 90% → 95–97%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468112" cy="1691640"/>
          </a:xfrm>
          <a:prstGeom prst="roundRect">
            <a:avLst>
              <a:gd name="adj" fmla="val 3784"/>
            </a:avLst>
          </a:prstGeom>
          <a:solidFill>
            <a:srgbClr val="13243D"/>
          </a:solidFill>
          <a:ln w="19050">
            <a:solidFill>
              <a:srgbClr val="00AAD2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20574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0A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tmp/assets/ic_gau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221992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20299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Difficulty-Aware LLM Routing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600200" y="25786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Arctic → GPT-4o → Claude 3.5, escalating only when needed.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600200" y="30906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+2–3 ppt · 35% LLM cost cut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72200" y="1828800"/>
            <a:ext cx="5468112" cy="1691640"/>
          </a:xfrm>
          <a:prstGeom prst="roundRect">
            <a:avLst>
              <a:gd name="adj" fmla="val 3784"/>
            </a:avLst>
          </a:prstGeom>
          <a:solidFill>
            <a:srgbClr val="13243D"/>
          </a:solidFill>
          <a:ln w="19050">
            <a:solidFill>
              <a:srgbClr val="00C39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400800" y="20574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0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/tmp/assets/ic_net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2221992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23760" y="20299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Cross-Agent Collaborative Handoffs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7223760" y="25786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flags network degradation → Alan pre-emptively scales.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7223760" y="30906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+1–2 ppt · −60% re-opens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657600"/>
            <a:ext cx="5468112" cy="1691640"/>
          </a:xfrm>
          <a:prstGeom prst="roundRect">
            <a:avLst>
              <a:gd name="adj" fmla="val 3784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77240" y="38862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/tmp/assets/ic_co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4050792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00200" y="38587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PM4PY Process-Deviation Detection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1600200" y="44074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deviation from optimal resolution paths.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1600200" y="49194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+0.5–1 ppt · closes loop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172200" y="3657600"/>
            <a:ext cx="5468112" cy="1691640"/>
          </a:xfrm>
          <a:prstGeom prst="roundRect">
            <a:avLst>
              <a:gd name="adj" fmla="val 3784"/>
            </a:avLst>
          </a:prstGeom>
          <a:solidFill>
            <a:srgbClr val="13243D"/>
          </a:solidFill>
          <a:ln w="19050">
            <a:solidFill>
              <a:srgbClr val="3B82F6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6400800" y="38862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3" descr="/tmp/assets/ic_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5392" y="4050792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223760" y="38587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Constitutional-AI Agent Guardrails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7223760" y="44074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policy guardrails prevent scope creep.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7223760" y="49194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−25% false escalations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548640" y="5577840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D6A0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548640" y="5577840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target: 90% → 95–97% autonomous resolution by Q2 2026 · then expand to FinOps, SecOps, HR &amp; Procurement.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COMPETITION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Fast-Growing, Defensible Whitespace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602736" cy="1417320"/>
          </a:xfrm>
          <a:prstGeom prst="roundRect">
            <a:avLst>
              <a:gd name="adj" fmla="val 5161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618488"/>
            <a:ext cx="360273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$10.2B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58368" y="2288286"/>
            <a:ext cx="338328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 → $22.1B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2614270"/>
            <a:ext cx="3383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16.8%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52544" y="1508760"/>
            <a:ext cx="3602736" cy="1417320"/>
          </a:xfrm>
          <a:prstGeom prst="roundRect">
            <a:avLst>
              <a:gd name="adj" fmla="val 5161"/>
            </a:avLst>
          </a:prstGeom>
          <a:solidFill>
            <a:srgbClr val="13243D"/>
          </a:solidFill>
          <a:ln w="19050">
            <a:solidFill>
              <a:srgbClr val="00AAD2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52544" y="1618488"/>
            <a:ext cx="360273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AA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$4.1B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462272" y="2288286"/>
            <a:ext cx="338328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→ $11.0B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62272" y="2614270"/>
            <a:ext cx="3383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21.7%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56448" y="1508760"/>
            <a:ext cx="3602736" cy="1417320"/>
          </a:xfrm>
          <a:prstGeom prst="roundRect">
            <a:avLst>
              <a:gd name="adj" fmla="val 5161"/>
            </a:avLst>
          </a:prstGeom>
          <a:solidFill>
            <a:srgbClr val="13243D"/>
          </a:solidFill>
          <a:ln w="19050">
            <a:solidFill>
              <a:srgbClr val="00C39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56448" y="1618488"/>
            <a:ext cx="360273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$2.8B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266176" y="2288286"/>
            <a:ext cx="338328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→ $18B+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66176" y="2614270"/>
            <a:ext cx="3383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~45%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3154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differentiation — no single player combines all four: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546811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36758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/ Jira / BMC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31520" y="3977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human-authored workflows; Ninja acts autonomously.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3566160"/>
            <a:ext cx="546811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55080" y="36758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/ Dynatrace / Moogsoft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355080" y="3977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&amp; alert; Ninja resolves the incident.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526280"/>
            <a:ext cx="546811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31520" y="46360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Copilot / GitHub Copilot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31520" y="49377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human prompting; Ninja is an autonomous agent ensemble.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72200" y="4526280"/>
            <a:ext cx="546811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355080" y="46360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/ Terraform / Runbooks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355080" y="49377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scripts; Ninja decides what to execute.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577840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8640" y="5577840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Ninja’s moat: multi-LLM agentic reasoning + confidence-gated autonomy + production HITL + governed Snowflake core.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PROJECT NINJA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Reasons It Wins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554480" y="196596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tmp/assets/ic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072" y="2130552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27432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97.1% F1 classifier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3154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held-out test split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83280" y="178308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389120" y="196596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/tmp/assets/ic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712" y="2130552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74720" y="27432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validated routing paths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474720" y="3154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· HITL · escalation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217920" y="178308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7223760" y="196596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/tmp/assets/ic_d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2" y="2130552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09360" y="27432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zero-ETL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309360" y="3154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egress risk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9052560" y="178308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10058400" y="196596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/tmp/assets/ic_br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2992" y="2130552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44000" y="27432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Multi-LLM ensemble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9144000" y="3154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&amp; cost-optimised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548640" y="370332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1554480" y="38862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4" descr="/tmp/assets/ic_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9072" y="4050792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40080" y="4663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Art.22 compliant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640080" y="5074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gateway built-in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3383280" y="370332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6"/>
          <p:cNvSpPr/>
          <p:nvPr/>
        </p:nvSpPr>
        <p:spPr>
          <a:xfrm>
            <a:off x="4389120" y="38862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5" descr="/tmp/assets/ic_lightbu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3712" y="4050792"/>
            <a:ext cx="365760" cy="36576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3474720" y="4663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RAG-grounded agents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3474720" y="5074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free-text hallucination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6217920" y="370332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0"/>
          <p:cNvSpPr/>
          <p:nvPr/>
        </p:nvSpPr>
        <p:spPr>
          <a:xfrm>
            <a:off x="7223760" y="38862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6" descr="/tmp/assets/ic_ch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88352" y="4050792"/>
            <a:ext cx="365760" cy="36576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6309360" y="4663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learning</a:t>
            </a:r>
            <a:endParaRPr lang="en-US" sz="1300" dirty="0"/>
          </a:p>
        </p:txBody>
      </p:sp>
      <p:sp>
        <p:nvSpPr>
          <p:cNvPr id="41" name="Text 32"/>
          <p:cNvSpPr/>
          <p:nvPr/>
        </p:nvSpPr>
        <p:spPr>
          <a:xfrm>
            <a:off x="6309360" y="5074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fix improves the model</a:t>
            </a:r>
            <a:endParaRPr lang="en-US" sz="1000" dirty="0"/>
          </a:p>
        </p:txBody>
      </p:sp>
      <p:sp>
        <p:nvSpPr>
          <p:cNvPr id="42" name="Shape 33"/>
          <p:cNvSpPr/>
          <p:nvPr/>
        </p:nvSpPr>
        <p:spPr>
          <a:xfrm>
            <a:off x="9052560" y="370332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34"/>
          <p:cNvSpPr/>
          <p:nvPr/>
        </p:nvSpPr>
        <p:spPr>
          <a:xfrm>
            <a:off x="10058400" y="38862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4" name="Image 7" descr="/tmp/assets/ic_handshak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22992" y="4050792"/>
            <a:ext cx="365760" cy="36576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9144000" y="4663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300" dirty="0"/>
          </a:p>
        </p:txBody>
      </p:sp>
      <p:sp>
        <p:nvSpPr>
          <p:cNvPr id="46" name="Text 36"/>
          <p:cNvSpPr/>
          <p:nvPr/>
        </p:nvSpPr>
        <p:spPr>
          <a:xfrm>
            <a:off x="9144000" y="5074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governance ready</a:t>
            </a:r>
            <a:endParaRPr lang="en-US" sz="1000" dirty="0"/>
          </a:p>
        </p:txBody>
      </p:sp>
      <p:sp>
        <p:nvSpPr>
          <p:cNvPr id="47" name="Text 37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48" name="Text 3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760720" y="914400"/>
            <a:ext cx="822960" cy="82296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760720" y="89611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14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414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kern="0" spc="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— Your Intelligent Sentinel for Autonomous IT Operations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02336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4160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Ramnath Kashikar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617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Manager / Lead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063240" y="402336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54680" y="4160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Sivanand Rao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54680" y="4617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Specialist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03520" y="402336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94960" y="4160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Bharath PU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94960" y="4617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AI Engineer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543800" y="402336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635240" y="4160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Priyanka Costa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35240" y="4617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Data Architect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784080" y="402336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875520" y="4160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Ritam Shome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875520" y="4617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&amp; Cyber Security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·  Capstone Project Final  ·  All data grounded in publicly available, validated datasets — no hallucinated data.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1939</Words>
  <Application>Microsoft Macintosh PowerPoint</Application>
  <PresentationFormat>Widescreen</PresentationFormat>
  <Paragraphs>380</Paragraphs>
  <Slides>21</Slides>
  <Notes>21</Notes>
  <HiddenSlides>0</HiddenSlides>
  <MMClips>4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Ninja — Agentic AI Ninja Command Center</dc:title>
  <dc:subject>PptxGenJS Presentation</dc:subject>
  <dc:creator>Group 5 — NinjaOps AI</dc:creator>
  <cp:lastModifiedBy>Ritam Shome</cp:lastModifiedBy>
  <cp:revision>1</cp:revision>
  <dcterms:created xsi:type="dcterms:W3CDTF">2026-06-03T21:02:58Z</dcterms:created>
  <dcterms:modified xsi:type="dcterms:W3CDTF">2026-06-03T21:04:45Z</dcterms:modified>
</cp:coreProperties>
</file>