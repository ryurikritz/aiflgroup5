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6-Month Build ($K)</c:v>
                </c:pt>
              </c:strCache>
            </c:strRef>
          </c:tx>
          <c:spPr>
            <a:solidFill>
              <a:srgbClr val="D6A0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8</c:v>
                </c:pt>
                <c:pt idx="3">
                  <c:v>11</c:v>
                </c:pt>
                <c:pt idx="4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16-364B-A9B8-8C38CAFD8A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Ops ($K)</c:v>
                </c:pt>
              </c:strCache>
            </c:strRef>
          </c:tx>
          <c:spPr>
            <a:solidFill>
              <a:srgbClr val="00AAD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Snowflake Cortex</c:v>
                </c:pt>
                <c:pt idx="1">
                  <c:v>Azure GPT-4o</c:v>
                </c:pt>
                <c:pt idx="2">
                  <c:v>Claude 3.5</c:v>
                </c:pt>
                <c:pt idx="3">
                  <c:v>Infra/DevOps</c:v>
                </c:pt>
                <c:pt idx="4">
                  <c:v>People (8 roles)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16-364B-A9B8-8C38CAFD8A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36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jp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6.jp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microsoft.com/office/2007/relationships/media" Target="../media/media4.mp4"/><Relationship Id="rId7" Type="http://schemas.openxmlformats.org/officeDocument/2006/relationships/image" Target="../media/image17.jp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4.mp4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microsoft.com/office/2007/relationships/media" Target="../media/media6.mp4"/><Relationship Id="rId7" Type="http://schemas.openxmlformats.org/officeDocument/2006/relationships/image" Target="../media/image19.jp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6.mp4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10" Type="http://schemas.openxmlformats.org/officeDocument/2006/relationships/image" Target="../media/image29.png"/><Relationship Id="rId4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760720" y="777240"/>
            <a:ext cx="868680" cy="86868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60720" y="75895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7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37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NINJA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Ninja Command Center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Sentinel for Autonomous IT Operations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2588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67912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67912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Orchestration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9944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Claude 3.5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51976" y="40233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51976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Final  ·  MVP Presentation  ·  Version 1.0  ·  Group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29,651 real IT support tickets  ·  No synthetic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Vision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0876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Specialist Agents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Workflow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3484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0352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Code Explainers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43484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30352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43484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— The 10% Gateway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43484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30352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User Wow Moment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229600" y="15544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66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9828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UX: Admin as Supervisor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229600" y="24688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667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98280" y="2468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vs. Humans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229600" y="33832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6676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098280" y="33832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ROI &amp; Break-Even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229600" y="42976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36676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9098280" y="42976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Phase-2 Expansion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8229600" y="5212080"/>
            <a:ext cx="3566160" cy="731520"/>
          </a:xfrm>
          <a:prstGeom prst="roundRect">
            <a:avLst>
              <a:gd name="adj" fmla="val 7500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6676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9098280" y="5212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Competition &amp; Ask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NinjaOps AI — Vision, Mission &amp;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86400" cy="1828800"/>
          </a:xfrm>
          <a:prstGeom prst="roundRect">
            <a:avLst>
              <a:gd name="adj" fmla="val 3500"/>
            </a:avLst>
          </a:prstGeom>
          <a:solidFill>
            <a:srgbClr val="0A1628"/>
          </a:solidFill>
          <a:ln/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world’s most trusted Agentic AI Operations platform — turning every IT service desk from a reactive cost centre into an autonomous, self-healing intelligence engine.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22392" cy="1828800"/>
          </a:xfrm>
          <a:prstGeom prst="roundRect">
            <a:avLst>
              <a:gd name="adj" fmla="val 35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90%+ of enterprise IT incidents autonomously — 24/7, with full audit trail and human override.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immovable principles: Human Authority First · No Hallucination · Compounding Intelligence.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/tmp/assets/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31920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3794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Goals (0–12 mo)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63040" y="41788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MVP on 29,651 real tickets at 90%+ autonomous resolution · Break-even Month 8–9 · 127% Year-1 ROI · first enterprise pilot.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3611880"/>
            <a:ext cx="54223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19088" y="3813048"/>
            <a:ext cx="566928" cy="566928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tmp/assets/ic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32320" y="37947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Goals (Years 2–5)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132320" y="4178808"/>
            <a:ext cx="4325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95–97% autonomy · expand to FinOps, SecOps, HR &amp; Procurement · $1.46M 5-yr saving · Snowflake Native App.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focus: Enterprise IT Service Management for 80,000–140,000-user (post-acquisition) environments.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Fragmented IT Estate Bleeding $750K /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 corporate acquisition (~140,000 combined users), the CTO inherited siloed tools — ServiceNow, Datadog, Dynatrace and proprietary CMDBs — with three compounding pain points: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602736" cy="109728"/>
          </a:xfrm>
          <a:prstGeom prst="rect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/tmp/assets/ic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overlapping tools — engineers ignore ~40% of alerts.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$380K/yr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waste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52544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52544" y="2240280"/>
            <a:ext cx="3602736" cy="109728"/>
          </a:xfrm>
          <a:prstGeom prst="rect">
            <a:avLst/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81144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/tmp/assets/ic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6517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58384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Tier-1 Triage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26864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hr avg MTTR; 18% SLA breach on L1/L2.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26864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$210K/yr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4626864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penalties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56448" y="2240280"/>
            <a:ext cx="3602736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156448" y="2240280"/>
            <a:ext cx="3602736" cy="109728"/>
          </a:xfrm>
          <a:prstGeom prst="rect">
            <a:avLst/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385048" y="25146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65176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62288" y="25420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Knowledge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30768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— 34% incident recurrence.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430768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$160K/yr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8430768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cost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484632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548640" y="4846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quantified cost of inaction:  </a:t>
            </a:r>
            <a:r>
              <a:rPr lang="en-US" sz="18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~$750K every year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agents. One platform. Zero manual triage.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92808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tmp/assets/ic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224028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IT incident resolution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AI + Snowflake Cortex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696712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22402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52544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35424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 HITL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35424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routing paths: autonomous · approval · escalation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56448" y="178308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500616" y="2011680"/>
            <a:ext cx="914400" cy="9144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/tmp/assets/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16" y="22402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56448" y="30175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339328" y="329184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auto-resolution; MTTR −74%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39328" y="370332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with engineer oversight, 24/7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  →  Detect  →  Recover  →  Prevent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48640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40080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85800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Endpoints, Network &amp; Cloud signals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346704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438144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3483864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ML + RAG anomaly detection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236208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6281928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remediation via live tool APIs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8942832" y="4800600"/>
            <a:ext cx="2697480" cy="1097280"/>
          </a:xfrm>
          <a:prstGeom prst="roundRect">
            <a:avLst>
              <a:gd name="adj" fmla="val 5000"/>
            </a:avLst>
          </a:prstGeom>
          <a:solidFill>
            <a:srgbClr val="1220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9034272" y="4864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9079992" y="52303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Fine-Tune prevents recurrence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Specialist Agents Under One Supervisor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1115568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Holistic End-to-End Solution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11155680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Confidence-Gated Routing — Three Paths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diagram_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10881360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ROUTING EXPERIMENT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— 3 Real Tickets from the CSV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Support · HIGH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+ 3×0.03 + 5×0.01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0" y="1645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0.99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229600" y="178308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21240" y="17373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Alan resolves — zero human touch · MTTR &lt;10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Exchanges · MEDIUM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 + 0×0.03 + 3×0.01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0.73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8229600" y="32918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2461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pauses · engineer approves in ~45s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#2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Payments ·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661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 + 0×0.03 + 5×0.01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5257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formula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0.60</a:t>
            </a:r>
            <a:endParaRPr lang="en-US" sz="3400" dirty="0"/>
          </a:p>
        </p:txBody>
      </p:sp>
      <p:sp>
        <p:nvSpPr>
          <p:cNvPr id="31" name="Shape 29"/>
          <p:cNvSpPr/>
          <p:nvPr/>
        </p:nvSpPr>
        <p:spPr>
          <a:xfrm>
            <a:off x="8229600" y="48006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21240" y="475488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→ training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formula derived from CSV columns only; production replaces it with a Cortex ML classifier at 97.1% F1.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29,651 Real Tickets → 11 Engineered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5394960" cy="3108960"/>
          </a:xfrm>
          <a:prstGeom prst="rect">
            <a:avLst/>
          </a:prstGeom>
        </p:spPr>
      </p:pic>
      <p:pic>
        <p:nvPicPr>
          <p:cNvPr id="7" name="Image 1" descr="/tmp/assets/fig_d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54864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 11,512 · medium 12,126 · low 6,013  |  Top dept: Technical Support (8,617).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98348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5074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ENGINEERED FEATURES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body_length · word_count · sentence_count · avg_word_length · has_question · urgency_keywords · politeness_score · priority_numeric · tags_list · tag_count · has_outage_tag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Pipeline + Snowflake Knowledge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023360" cy="44805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LangGraph pipeline</a:t>
            </a:r>
            <a:endParaRPr lang="en-US" sz="1200" dirty="0"/>
          </a:p>
        </p:txBody>
      </p:sp>
      <p:pic>
        <p:nvPicPr>
          <p:cNvPr id="8" name="Image 0" descr="/tmp/assets/fig_lang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3108960" cy="3931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Knowledge DWH — Schema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83480" y="18288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incidents_raw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18288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JSON ingest (append-only)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542032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25420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incidents_enriched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0" y="2542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table — category, priority, CI, resolution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55264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83480" y="325526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knowledge_articles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315200" y="3255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vector index over 14,000+ KB articles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68496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83480" y="396849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resolution_vectors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0" y="396849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1024-dim embeddings for similarity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4681728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983480" y="46817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ml_training_buffer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315200" y="46817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Arctic retraining via FINETUNE()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5394960"/>
            <a:ext cx="6793992" cy="658368"/>
          </a:xfrm>
          <a:prstGeom prst="roundRect">
            <a:avLst>
              <a:gd name="adj" fmla="val 6944"/>
            </a:avLst>
          </a:prstGeom>
          <a:solidFill>
            <a:srgbClr val="EAF1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83480" y="5394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0" y="5394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score &amp; HITL decision — GDPR trail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LangGraph Wires the Whole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orchestration brain in 60 seconds — ingest, classify, route to an agent or to a human.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AA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60-SEC EXPLAINER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snowflake_ingest → neural_net_predict → copilot_router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agent_alan / ada / grace / human_supervisor → 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CODE · ANIMATED EXPLAINER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Ninja — End-to-End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arrives, Ninja scores its confidence and acts — autonomously, or pausing for human approval. Press 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97480" y="1783080"/>
            <a:ext cx="6793992" cy="4160520"/>
          </a:xfrm>
          <a:prstGeom prst="roundRect">
            <a:avLst>
              <a:gd name="adj" fmla="val 1538"/>
            </a:avLst>
          </a:prstGeom>
          <a:solidFill>
            <a:srgbClr val="13243D"/>
          </a:solidFill>
          <a:ln w="2540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0" y="199339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· 60-SEC EXPLAINER</a:t>
            </a:r>
            <a:endParaRPr lang="en-US" sz="11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27248" y="2578608"/>
            <a:ext cx="594360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724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0.90 → autonomous resolution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5532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0.70–0.89 → HITL approval  ·  &lt; 0.70 → escalate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 — The 10% Gateway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Authority First — engineers retain override authority at every stage; agents act autonomously only where confidence is provably high (≥0.90).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128016" cy="1234440"/>
          </a:xfrm>
          <a:prstGeom prst="rect">
            <a:avLst/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Monitoring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A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0.90–0.99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acts; engineer notified post-hoc via Teams + Snowflake audit log. Reviews and flags misses.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28016" cy="1234440"/>
          </a:xfrm>
          <a:prstGeom prst="rect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Gate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A0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0.70–0.89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drafts plan; LangGraph interrupt_before pauses. Engineer clicks Approve / Modify / Reject (~45s).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43D"/>
          </a:solidFill>
          <a:ln w="1905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28016" cy="1234440"/>
          </a:xfrm>
          <a:prstGeom prst="rect">
            <a:avLst/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Escalation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8680" y="5257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&lt; 0.70  or  P1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+ AI context bundle (log tail, similar incidents, hypothesis). Engineer resolves → new runbook.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approval, modification or rejection feeds the weekly FINETUNE() — well-trained supervisors directly raise the autonomous rate.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Outage — Without vs. With Ninja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same 2 A.M. portal outage play out two ways — the manual struggle, then the autonomous “wow.”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NINJA</a:t>
            </a:r>
            <a:endParaRPr lang="en-US" sz="130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47-min hold · no ticket · manual escalation · “maybe by morning.”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40880" y="20116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NINJA</a:t>
            </a:r>
            <a:endParaRPr lang="en-US" sz="130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&lt; 1s · conf 0.99 · auto-restored · zero human touch — “you’re all set.”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EXPERIENCE · BEFORE &amp; AFTER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SSL Crisis — Without vs. With Agent Ada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expiring production certificate, two nights apart — the 3 A.M. scramble, then the calm HITL approval. Press play on each clip.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DC4444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01168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DC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— AGENT ADA</a:t>
            </a:r>
            <a:endParaRPr lang="en-US" sz="1250" dirty="0"/>
          </a:p>
        </p:txBody>
      </p:sp>
      <p:pic>
        <p:nvPicPr>
          <p:cNvPr id="11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77240" y="2606040"/>
            <a:ext cx="4937760" cy="27797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5486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2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at 3 A.M. · cert expired · fragile script · no rollback · alone.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3520440"/>
            <a:ext cx="640080" cy="868680"/>
          </a:xfrm>
          <a:prstGeom prst="chevron">
            <a:avLst/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4572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0C2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66560" y="1783080"/>
            <a:ext cx="4919472" cy="4297680"/>
          </a:xfrm>
          <a:prstGeom prst="roundRect">
            <a:avLst>
              <a:gd name="adj" fmla="val 1489"/>
            </a:avLst>
          </a:prstGeom>
          <a:solidFill>
            <a:srgbClr val="13243D"/>
          </a:solidFill>
          <a:ln w="2540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40880" y="2011680"/>
            <a:ext cx="2697480" cy="457200"/>
          </a:xfrm>
          <a:prstGeom prst="roundRect">
            <a:avLst>
              <a:gd name="adj" fmla="val 50000"/>
            </a:avLst>
          </a:prstGeom>
          <a:solidFill>
            <a:srgbClr val="3FA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040880" y="20116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AGENT ADA</a:t>
            </a:r>
            <a:endParaRPr lang="en-US" sz="1250" dirty="0"/>
          </a:p>
        </p:txBody>
      </p:sp>
      <p:pic>
        <p:nvPicPr>
          <p:cNvPr id="18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40880" y="2606040"/>
            <a:ext cx="4370832" cy="245973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40880" y="51663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F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48h early · plan + rollback · conf 0.88 · admin approves in ~45s — HITL.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vs. Human Engineers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605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0C24A"/>
                          </a:solidFill>
                        </a:rPr>
                        <a:t>Dimension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A8C8F0"/>
                          </a:solidFill>
                        </a:rPr>
                        <a:t>Human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Ninja v1.0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Delta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Avg. MTTR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4.2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1.1 hours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Tickets resolved without human touch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~15%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90%+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+75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24/7 coverage (FTE)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12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3 FTEs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−75%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SLA adherence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72%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93%+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+21 ppt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Alert-to-action latency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18–40 min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90 sec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−98%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Repeat incident rate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34%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&lt; 8%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−76%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</a:rPr>
                        <a:t>Engineer satisfaction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64748B"/>
                          </a:solidFill>
                        </a:rPr>
                        <a:t>2.8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A1628"/>
                          </a:solidFill>
                        </a:rPr>
                        <a:t>4.3 / 5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AE5A"/>
                          </a:solidFill>
                        </a:rPr>
                        <a:t>+54%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grounded in analogous enterprise AI-Ops deployments (Capgemini/Snowflake Cortex 2025; ServiceNow AI Agents 2024–25).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6-Month Investment &amp; Annual Run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55448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5544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0" y="16642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882128" y="22334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investment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9260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0" y="30358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~$41K/yr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882128" y="36050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 cost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0" y="4407408"/>
            <a:ext cx="38404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882128" y="4976622"/>
            <a:ext cx="362102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 saving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drivers: $380K/yr alert waste · $210K/yr SLA penalties · $160K/yr rework · $712K/yr FTE reduction.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Break-Even &amp; 5-Year ROI Trajectory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pic>
        <p:nvPicPr>
          <p:cNvPr id="6" name="Image 0" descr="/tmp/assets/fig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3152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161848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8–9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47888" y="203682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break-even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26060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13243D"/>
          </a:solidFill>
          <a:ln w="19050">
            <a:solidFill>
              <a:srgbClr val="3FAE5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38160" y="2715768"/>
            <a:ext cx="3474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FA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47888" y="3134106"/>
            <a:ext cx="32552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ROI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38160" y="37033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38160" y="3813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$1.46M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247888" y="4206240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 cumulative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(M1)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~$15–20K · no saving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51460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prep (M2)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51460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~$35–50K · no saving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9768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(M3)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38912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~$55–80K · no saving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26364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+ HITL (M4–5)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26364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only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04672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13816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(M6)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816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begin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9921240" y="48006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0A1628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012680" y="4892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(M8–9)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012680" y="5367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recovered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Expansion — 90% → 95–97%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A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assets/ic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2199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Difficulty-Aware LLM Routing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60020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Arctic → GPT-4o → Claude 3.5, escalating only when needed.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0020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 ppt · 35% LLM cost cut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0" y="20574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/tmp/assets/ic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2219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29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Collaborative Handoffs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223760" y="25786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flags network degradation → Alan pre-emptively scales.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23760" y="30906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ppt · −60% re-opens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/tmp/assets/ic_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05079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PM4PY Process-Deviation Detection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60020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deviation from optimal resolution paths.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60020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+0.5–1 ppt · closes loop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72200" y="3657600"/>
            <a:ext cx="5468112" cy="1691640"/>
          </a:xfrm>
          <a:prstGeom prst="roundRect">
            <a:avLst>
              <a:gd name="adj" fmla="val 3784"/>
            </a:avLst>
          </a:prstGeom>
          <a:solidFill>
            <a:srgbClr val="13243D"/>
          </a:solidFill>
          <a:ln w="19050">
            <a:solidFill>
              <a:srgbClr val="3B82F6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/tmp/assets/ic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392" y="405079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23760" y="38587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Constitutional-AI Agent Guardrails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223760" y="44074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policy guardrails prevent scope creep.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2376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 false escalations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D6A0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target: 90% → 95–97% autonomous resolution by Q2 2026 · then expand to FinOps, SecOps, HR &amp; Procurement.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COMPETITION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Fast-Growing, Defensible Whitespace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0" y="411480"/>
            <a:ext cx="457200" cy="45720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0" y="393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D6A028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A0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$10.2B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58368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→ $22.1B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16.8%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AAD2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52544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D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→ $11.0B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62272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21.7%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56448" y="1508760"/>
            <a:ext cx="3602736" cy="1417320"/>
          </a:xfrm>
          <a:prstGeom prst="roundRect">
            <a:avLst>
              <a:gd name="adj" fmla="val 5161"/>
            </a:avLst>
          </a:prstGeom>
          <a:solidFill>
            <a:srgbClr val="13243D"/>
          </a:solidFill>
          <a:ln w="19050">
            <a:solidFill>
              <a:srgbClr val="00C39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56448" y="1618488"/>
            <a:ext cx="36027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$2.8B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66176" y="2288286"/>
            <a:ext cx="33832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→ $18B+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66176" y="261427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~45%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differentiation — no single player combines all four: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/ Jira / BMC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human-authored workflows; Ninja acts autonomously.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56616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3675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Dynatrace / Moogsoft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5508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alert; Ninja resolves the incident.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 / GitHub Copilot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human prompting; Ninja is an autonomous agent ensemble.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4526280"/>
            <a:ext cx="546811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46360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Terraform / Runbooks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55080" y="4937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scripts; Ninja decides what to execute.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55778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Ninja’s moat: multi-LLM agentic reasoning + confidence-gated autonomy + production HITL + governed Snowflake core.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6A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NINJA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Reasons It Wins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38560" y="457200"/>
            <a:ext cx="502920" cy="50292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0" y="438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3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53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tmp/assets/ic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21305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97.1% F1 classifier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held-out test split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/tmp/asset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3055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validated routing paths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HITL · escalation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22376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/tmp/assets/ic_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2130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zero-ETL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risk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58400" y="196596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/tmp/assets/ic_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992" y="21305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2743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ensemble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&amp; cost-optimised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55448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/tmp/assets/ic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9072" y="405079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Art.22 compliant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4008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gateway built-in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38328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438912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5" descr="/tmp/assets/ic_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05079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47472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 agents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347472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free-text hallucination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21792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722376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/tmp/assets/ic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4050792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0936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learning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30936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improves the model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9052560" y="3703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3243D"/>
          </a:solidFill>
          <a:ln w="12700">
            <a:solidFill>
              <a:srgbClr val="12203A"/>
            </a:solidFill>
            <a:prstDash val="solid"/>
          </a:ln>
          <a:effectLst>
            <a:outerShdw blurRad="114300" dist="381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10058400" y="3886200"/>
            <a:ext cx="685800" cy="68580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7" descr="/tmp/assets/ic_handshak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2992" y="4050792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9144000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6" name="Text 36"/>
          <p:cNvSpPr/>
          <p:nvPr/>
        </p:nvSpPr>
        <p:spPr>
          <a:xfrm>
            <a:off x="9144000" y="5074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ready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 ·  Agentic AI Ninja Command Center  ·  Group 5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03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914400"/>
            <a:ext cx="822960" cy="822960"/>
          </a:xfrm>
          <a:prstGeom prst="ellipse">
            <a:avLst/>
          </a:prstGeom>
          <a:solidFill>
            <a:srgbClr val="F0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60720" y="8961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14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414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C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Ninja — Your Intelligent Sentinel for Autonomous IT Operations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Ramnath Kashikar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Manager / Lead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Sivanand Rao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Specialist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Bharath 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Engineer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4380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Costa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3524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Data Architect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784080" y="402336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3243D"/>
          </a:solidFill>
          <a:ln w="12700">
            <a:solidFill>
              <a:srgbClr val="D6A0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75520" y="4160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Ritam Shome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Cyber Security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Capstone Project Final  ·  All data grounded in publicly available, validated datasets — no hallucinated data.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2085</Words>
  <Application>Microsoft Macintosh PowerPoint</Application>
  <PresentationFormat>Widescreen</PresentationFormat>
  <Paragraphs>400</Paragraphs>
  <Slides>23</Slides>
  <Notes>23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Ninja — Agentic AI Ninja Command Center</dc:title>
  <dc:subject>PptxGenJS Presentation</dc:subject>
  <dc:creator>Group 5 — NinjaOps AI</dc:creator>
  <cp:lastModifiedBy>Ritam Shome</cp:lastModifiedBy>
  <cp:revision>1</cp:revision>
  <dcterms:created xsi:type="dcterms:W3CDTF">2026-06-03T21:33:10Z</dcterms:created>
  <dcterms:modified xsi:type="dcterms:W3CDTF">2026-06-04T05:51:22Z</dcterms:modified>
</cp:coreProperties>
</file>